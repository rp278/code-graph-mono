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One-liner: CodeGraph turns a multi-repo codebase into a live knowledge graph, then puts three workflows on top: View Graph, Ask AI and Fix Bugs. A human approves every change to code.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product spans six repos: two micro-frontends, three experience APIs (one TypeScript, two Java) and a shared design-system library. A frontend call in one repo reaches an endpoint in another, and no single tool shows that link.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workflows on one foundation: a cross-repo knowledge graph built by Graphify in Neo4j, a React dashboard drawing it with React Flow, and Cursor SDK agents grounded by the graph.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Graphify extracts nodes and edges from the six repos and pushes them to Neo4j. FastAPI serves the graph to the React dashboard and hosts the two agents. Ask AI is read-only; Fix Bugs edits, tests and opens PRs on GitHub, and records progress in state.json.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Graphify is a customized fork of the open-source safishamsi/graphify with a deterministic multi-repo path. No LLM at build time: same code, same graph. LLMs only read the graph. Run: python -m graphify.codegraph --repos repos.json --push, or press Rebuild in the dashboard. Stats are a snapshot: about 13,200 nodes and 35,900 edges.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Extractors observe one file at a time; linkers connect. An extractor can only say component X calls GET /api/products, target unknown, so it records a pending edge. After all repos are extracted the link pass builds a global (method, path) registry and resolves each pending call. Also follows API-client wrappers, service calls via env-var base URLs, and Next.js proxy routes. Resolved cross-repo edges are INFERRED (dashed); calls_service is EXTRACTED.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13,000 nodes on one canvas is unreadable, so we never draw the whole graph. Explore starts on the All-repos map: one box per repo and one merged arrow per repo pair, with counts. Pick a node and you see its neighborhood: the node plus everything one hop away, in any repo. Click a neighbor to walk. The Tree view browses a repo like a file explorer. React Flow gives pan/zoom/minimap; dagre lays out.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AI pre-fetches a small keyword-based subgraph (up to 8 keywords, 25 nodes, 6 neighbors each) and puts it in the prompt so the agent knows where to look. The agent's toolset is restricted to read, grep, glob, ls; that is enforced by the SDK at agent creation, not requested in the prompt. If the graph and a file disagree, the agent trusts the file and says so. Runs in a background thread; UI polls live status.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Paste an error; the agent works through four stages with four mandatory human gates. Stages 1 to 3 may not touch source: only .pipeline/&lt;slug&gt;/ files and test files. Stage 3 exists to falsify the hypothesis; if the failing test fails for a different reason, we return to root cause. When Gate 4 is approved the run is done: the pipeline stops at an open PR and never merges. A person reviews and merges.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not just ask an agent to fix it? The hypothesis is a claim and stage 3 exists to falsify it. Preservation tests come from the graph's blast radius, including consumers in other repos. Headless approvals: the agent writes a pending_gate marker in state.json and stops; the dashboard shows it; approve or revise resumes the same agent.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AI's read-only guarantee is technical: the toolset has no edit tool. Fix Bugs is different: its guardrails are rules the agent must follow, because it has a shell and git. That's why gates, scope fence and no-merge are backed by a human at every step and the last decision stays with a person.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see, question and repair the system, with evidence at each step and a person deciding what merges.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pic>
        <p:nvPicPr>
          <p:cNvPr id="2" name="Picture 1" descr="codegraph-logo-transparent.png"/>
          <p:cNvPicPr>
            <a:picLocks noChangeAspect="1"/>
          </p:cNvPicPr>
          <p:nvPr/>
        </p:nvPicPr>
        <p:blipFill>
          <a:blip r:embed="rId3"/>
          <a:stretch>
            <a:fillRect/>
          </a:stretch>
        </p:blipFill>
        <p:spPr>
          <a:xfrm>
            <a:off x="822960" y="1554480"/>
            <a:ext cx="1920240" cy="1920240"/>
          </a:xfrm>
          <a:prstGeom prst="rect">
            <a:avLst/>
          </a:prstGeom>
        </p:spPr>
      </p:pic>
      <p:sp>
        <p:nvSpPr>
          <p:cNvPr id="3" name="TextBox 2"/>
          <p:cNvSpPr txBox="1"/>
          <p:nvPr/>
        </p:nvSpPr>
        <p:spPr>
          <a:xfrm>
            <a:off x="822960" y="3611880"/>
            <a:ext cx="10058400" cy="1005840"/>
          </a:xfrm>
          <a:prstGeom prst="rect">
            <a:avLst/>
          </a:prstGeom>
          <a:noFill/>
        </p:spPr>
        <p:txBody>
          <a:bodyPr wrap="square" lIns="36576" rIns="36576" tIns="18288" bIns="18288" anchor="t">
            <a:spAutoFit/>
          </a:bodyPr>
          <a:lstStyle/>
          <a:p>
            <a:pPr algn="l"/>
            <a:r>
              <a:rPr sz="6000" b="1">
                <a:solidFill>
                  <a:srgbClr val="F1F5F9"/>
                </a:solidFill>
                <a:latin typeface="Arial"/>
              </a:rPr>
              <a:t>CodeGraph</a:t>
            </a:r>
          </a:p>
        </p:txBody>
      </p:sp>
      <p:sp>
        <p:nvSpPr>
          <p:cNvPr id="4" name="TextBox 3"/>
          <p:cNvSpPr txBox="1"/>
          <p:nvPr/>
        </p:nvSpPr>
        <p:spPr>
          <a:xfrm>
            <a:off x="822960" y="4572000"/>
            <a:ext cx="10058400" cy="822960"/>
          </a:xfrm>
          <a:prstGeom prst="rect">
            <a:avLst/>
          </a:prstGeom>
          <a:noFill/>
        </p:spPr>
        <p:txBody>
          <a:bodyPr wrap="square" lIns="36576" rIns="36576" tIns="18288" bIns="18288" anchor="t">
            <a:spAutoFit/>
          </a:bodyPr>
          <a:lstStyle/>
          <a:p>
            <a:pPr algn="l"/>
            <a:r>
              <a:rPr sz="2200" b="0">
                <a:solidFill>
                  <a:srgbClr val="94A3B8"/>
                </a:solidFill>
                <a:latin typeface="Arial"/>
              </a:rPr>
              <a:t>See, question and repair a multi-repo system from one dashboard, with a human approving every change to code.</a:t>
            </a:r>
          </a:p>
        </p:txBody>
      </p:sp>
      <p:sp>
        <p:nvSpPr>
          <p:cNvPr id="5" name="Rounded Rectangle 4"/>
          <p:cNvSpPr/>
          <p:nvPr/>
        </p:nvSpPr>
        <p:spPr>
          <a:xfrm>
            <a:off x="868680" y="5669280"/>
            <a:ext cx="1600200" cy="365760"/>
          </a:xfrm>
          <a:prstGeom prst="roundRect">
            <a:avLst>
              <a:gd name="adj" fmla="val 50000"/>
            </a:avLst>
          </a:prstGeom>
          <a:no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5669280"/>
            <a:ext cx="1600200" cy="365760"/>
          </a:xfrm>
          <a:prstGeom prst="rect">
            <a:avLst/>
          </a:prstGeom>
          <a:noFill/>
        </p:spPr>
        <p:txBody>
          <a:bodyPr wrap="square" lIns="36576" rIns="36576" tIns="18288" bIns="18288" anchor="ctr">
            <a:spAutoFit/>
          </a:bodyPr>
          <a:lstStyle/>
          <a:p>
            <a:pPr algn="ctr"/>
            <a:r>
              <a:rPr sz="1300" b="1">
                <a:solidFill>
                  <a:srgbClr val="22D3EE"/>
                </a:solidFill>
                <a:latin typeface="Arial"/>
              </a:rPr>
              <a:t>View Graph</a:t>
            </a:r>
          </a:p>
        </p:txBody>
      </p:sp>
      <p:sp>
        <p:nvSpPr>
          <p:cNvPr id="7" name="Rounded Rectangle 6"/>
          <p:cNvSpPr/>
          <p:nvPr/>
        </p:nvSpPr>
        <p:spPr>
          <a:xfrm>
            <a:off x="2651760" y="5669280"/>
            <a:ext cx="1600200" cy="365760"/>
          </a:xfrm>
          <a:prstGeom prst="roundRect">
            <a:avLst>
              <a:gd name="adj" fmla="val 50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651760" y="5669280"/>
            <a:ext cx="1600200" cy="365760"/>
          </a:xfrm>
          <a:prstGeom prst="rect">
            <a:avLst/>
          </a:prstGeom>
          <a:noFill/>
        </p:spPr>
        <p:txBody>
          <a:bodyPr wrap="square" lIns="36576" rIns="36576" tIns="18288" bIns="18288" anchor="ctr">
            <a:spAutoFit/>
          </a:bodyPr>
          <a:lstStyle/>
          <a:p>
            <a:pPr algn="ctr"/>
            <a:r>
              <a:rPr sz="1300" b="1">
                <a:solidFill>
                  <a:srgbClr val="8B5CF6"/>
                </a:solidFill>
                <a:latin typeface="Arial"/>
              </a:rPr>
              <a:t>Ask AI</a:t>
            </a:r>
          </a:p>
        </p:txBody>
      </p:sp>
      <p:sp>
        <p:nvSpPr>
          <p:cNvPr id="9" name="Rounded Rectangle 8"/>
          <p:cNvSpPr/>
          <p:nvPr/>
        </p:nvSpPr>
        <p:spPr>
          <a:xfrm>
            <a:off x="4434840" y="5669280"/>
            <a:ext cx="1600200" cy="365760"/>
          </a:xfrm>
          <a:prstGeom prst="roundRect">
            <a:avLst>
              <a:gd name="adj" fmla="val 50000"/>
            </a:avLst>
          </a:prstGeom>
          <a:no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434840" y="5669280"/>
            <a:ext cx="1600200" cy="365760"/>
          </a:xfrm>
          <a:prstGeom prst="rect">
            <a:avLst/>
          </a:prstGeom>
          <a:noFill/>
        </p:spPr>
        <p:txBody>
          <a:bodyPr wrap="square" lIns="36576" rIns="36576" tIns="18288" bIns="18288" anchor="ctr">
            <a:spAutoFit/>
          </a:bodyPr>
          <a:lstStyle/>
          <a:p>
            <a:pPr algn="ctr"/>
            <a:r>
              <a:rPr sz="1300" b="1">
                <a:solidFill>
                  <a:srgbClr val="34D399"/>
                </a:solidFill>
                <a:latin typeface="Arial"/>
              </a:rPr>
              <a:t>Fix Bugs</a:t>
            </a:r>
          </a:p>
        </p:txBody>
      </p:sp>
      <p:sp>
        <p:nvSpPr>
          <p:cNvPr id="11" name="TextBox 10"/>
          <p:cNvSpPr txBox="1"/>
          <p:nvPr/>
        </p:nvSpPr>
        <p:spPr>
          <a:xfrm>
            <a:off x="8168335" y="5760720"/>
            <a:ext cx="3383280" cy="365760"/>
          </a:xfrm>
          <a:prstGeom prst="rect">
            <a:avLst/>
          </a:prstGeom>
          <a:noFill/>
        </p:spPr>
        <p:txBody>
          <a:bodyPr wrap="square" lIns="36576" rIns="36576" tIns="18288" bIns="18288" anchor="t">
            <a:spAutoFit/>
          </a:bodyPr>
          <a:lstStyle/>
          <a:p>
            <a:pPr algn="r"/>
            <a:r>
              <a:rPr sz="1400" b="0">
                <a:solidFill>
                  <a:srgbClr val="94A3B8"/>
                </a:solidFill>
                <a:latin typeface="Arial"/>
              </a:rPr>
              <a:t>Hackathon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lIns="36576" rIns="36576" tIns="18288" bIns="18288" anchor="t">
            <a:spAutoFit/>
          </a:bodyPr>
          <a:lstStyle/>
          <a:p>
            <a:pPr algn="l"/>
            <a:r>
              <a:rPr sz="1200" b="1">
                <a:solidFill>
                  <a:srgbClr val="22D3EE"/>
                </a:solidFill>
                <a:latin typeface="Arial"/>
              </a:rPr>
              <a:t>THE PROBLEM</a:t>
            </a:r>
          </a:p>
        </p:txBody>
      </p:sp>
      <p:sp>
        <p:nvSpPr>
          <p:cNvPr id="3" name="TextBox 2"/>
          <p:cNvSpPr txBox="1"/>
          <p:nvPr/>
        </p:nvSpPr>
        <p:spPr>
          <a:xfrm>
            <a:off x="640080" y="731520"/>
            <a:ext cx="10881360" cy="822960"/>
          </a:xfrm>
          <a:prstGeom prst="rect">
            <a:avLst/>
          </a:prstGeom>
          <a:noFill/>
        </p:spPr>
        <p:txBody>
          <a:bodyPr wrap="square" lIns="36576" rIns="36576" tIns="18288" bIns="18288" anchor="t">
            <a:spAutoFit/>
          </a:bodyPr>
          <a:lstStyle/>
          <a:p>
            <a:pPr algn="l"/>
            <a:r>
              <a:rPr sz="3200" b="1">
                <a:solidFill>
                  <a:srgbClr val="F1F5F9"/>
                </a:solidFill>
                <a:latin typeface="Arial"/>
              </a:rPr>
              <a:t>Six repos, one system, no shared view</a:t>
            </a:r>
          </a:p>
        </p:txBody>
      </p:sp>
      <p:sp>
        <p:nvSpPr>
          <p:cNvPr id="4" name="Rectangle 3"/>
          <p:cNvSpPr/>
          <p:nvPr/>
        </p:nvSpPr>
        <p:spPr>
          <a:xfrm>
            <a:off x="676656" y="1481328"/>
            <a:ext cx="8229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640080" y="2011680"/>
            <a:ext cx="3474720" cy="2743200"/>
          </a:xfrm>
          <a:prstGeom prst="roundRect">
            <a:avLst>
              <a:gd name="adj" fmla="val 8000"/>
            </a:avLst>
          </a:prstGeom>
          <a:solidFill>
            <a:srgbClr val="141824"/>
          </a:solidFill>
          <a:ln w="190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914400" y="2286000"/>
            <a:ext cx="457200" cy="7315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2468880"/>
            <a:ext cx="3017520" cy="457200"/>
          </a:xfrm>
          <a:prstGeom prst="rect">
            <a:avLst/>
          </a:prstGeom>
          <a:noFill/>
        </p:spPr>
        <p:txBody>
          <a:bodyPr wrap="square" lIns="36576" rIns="36576" tIns="18288" bIns="18288" anchor="t">
            <a:spAutoFit/>
          </a:bodyPr>
          <a:lstStyle/>
          <a:p>
            <a:pPr algn="l"/>
            <a:r>
              <a:rPr sz="2200" b="1">
                <a:solidFill>
                  <a:srgbClr val="F1F5F9"/>
                </a:solidFill>
                <a:latin typeface="Arial"/>
              </a:rPr>
              <a:t>Links are invisible</a:t>
            </a:r>
          </a:p>
        </p:txBody>
      </p:sp>
      <p:sp>
        <p:nvSpPr>
          <p:cNvPr id="8" name="TextBox 7"/>
          <p:cNvSpPr txBox="1"/>
          <p:nvPr/>
        </p:nvSpPr>
        <p:spPr>
          <a:xfrm>
            <a:off x="914400" y="3063240"/>
            <a:ext cx="2971800" cy="1645920"/>
          </a:xfrm>
          <a:prstGeom prst="rect">
            <a:avLst/>
          </a:prstGeom>
          <a:noFill/>
        </p:spPr>
        <p:txBody>
          <a:bodyPr wrap="square" lIns="36576" rIns="36576" tIns="18288" bIns="18288" anchor="t">
            <a:spAutoFit/>
          </a:bodyPr>
          <a:lstStyle/>
          <a:p>
            <a:pPr algn="l"/>
            <a:r>
              <a:rPr sz="1500" b="0">
                <a:solidFill>
                  <a:srgbClr val="94A3B8"/>
                </a:solidFill>
                <a:latin typeface="Arial"/>
              </a:rPr>
              <a:t>A call in tb-discovery-mfe lands in a Java endpoint in tb-selection-xapi. No single tool shows that link across repos.</a:t>
            </a:r>
          </a:p>
        </p:txBody>
      </p:sp>
      <p:sp>
        <p:nvSpPr>
          <p:cNvPr id="9" name="Rounded Rectangle 8"/>
          <p:cNvSpPr/>
          <p:nvPr/>
        </p:nvSpPr>
        <p:spPr>
          <a:xfrm>
            <a:off x="4389120" y="2011680"/>
            <a:ext cx="3474720" cy="2743200"/>
          </a:xfrm>
          <a:prstGeom prst="roundRect">
            <a:avLst>
              <a:gd name="adj" fmla="val 8000"/>
            </a:avLst>
          </a:prstGeom>
          <a:solidFill>
            <a:srgbClr val="141824"/>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663440" y="2286000"/>
            <a:ext cx="457200" cy="7315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663440" y="2468880"/>
            <a:ext cx="3017520" cy="457200"/>
          </a:xfrm>
          <a:prstGeom prst="rect">
            <a:avLst/>
          </a:prstGeom>
          <a:noFill/>
        </p:spPr>
        <p:txBody>
          <a:bodyPr wrap="square" lIns="36576" rIns="36576" tIns="18288" bIns="18288" anchor="t">
            <a:spAutoFit/>
          </a:bodyPr>
          <a:lstStyle/>
          <a:p>
            <a:pPr algn="l"/>
            <a:r>
              <a:rPr sz="2200" b="1">
                <a:solidFill>
                  <a:srgbClr val="F1F5F9"/>
                </a:solidFill>
                <a:latin typeface="Arial"/>
              </a:rPr>
              <a:t>Agents guess</a:t>
            </a:r>
          </a:p>
        </p:txBody>
      </p:sp>
      <p:sp>
        <p:nvSpPr>
          <p:cNvPr id="12" name="TextBox 11"/>
          <p:cNvSpPr txBox="1"/>
          <p:nvPr/>
        </p:nvSpPr>
        <p:spPr>
          <a:xfrm>
            <a:off x="4663440" y="3063240"/>
            <a:ext cx="2971800" cy="1645920"/>
          </a:xfrm>
          <a:prstGeom prst="rect">
            <a:avLst/>
          </a:prstGeom>
          <a:noFill/>
        </p:spPr>
        <p:txBody>
          <a:bodyPr wrap="square" lIns="36576" rIns="36576" tIns="18288" bIns="18288" anchor="t">
            <a:spAutoFit/>
          </a:bodyPr>
          <a:lstStyle/>
          <a:p>
            <a:pPr algn="l"/>
            <a:r>
              <a:rPr sz="1500" b="0">
                <a:solidFill>
                  <a:srgbClr val="94A3B8"/>
                </a:solidFill>
                <a:latin typeface="Arial"/>
              </a:rPr>
              <a:t>General coding agents grep, miss cross-repo consumers, and change code with no audit trail.</a:t>
            </a:r>
          </a:p>
        </p:txBody>
      </p:sp>
      <p:sp>
        <p:nvSpPr>
          <p:cNvPr id="13" name="Rounded Rectangle 12"/>
          <p:cNvSpPr/>
          <p:nvPr/>
        </p:nvSpPr>
        <p:spPr>
          <a:xfrm>
            <a:off x="8138159" y="2011680"/>
            <a:ext cx="3474720" cy="2743200"/>
          </a:xfrm>
          <a:prstGeom prst="roundRect">
            <a:avLst>
              <a:gd name="adj" fmla="val 8000"/>
            </a:avLst>
          </a:prstGeom>
          <a:solidFill>
            <a:srgbClr val="141824"/>
          </a:solidFill>
          <a:ln w="1905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412480" y="2286000"/>
            <a:ext cx="457200" cy="7315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80" y="2468880"/>
            <a:ext cx="3017520" cy="457200"/>
          </a:xfrm>
          <a:prstGeom prst="rect">
            <a:avLst/>
          </a:prstGeom>
          <a:noFill/>
        </p:spPr>
        <p:txBody>
          <a:bodyPr wrap="square" lIns="36576" rIns="36576" tIns="18288" bIns="18288" anchor="t">
            <a:spAutoFit/>
          </a:bodyPr>
          <a:lstStyle/>
          <a:p>
            <a:pPr algn="l"/>
            <a:r>
              <a:rPr sz="2200" b="1">
                <a:solidFill>
                  <a:srgbClr val="F1F5F9"/>
                </a:solidFill>
                <a:latin typeface="Arial"/>
              </a:rPr>
              <a:t>Trust is missing</a:t>
            </a:r>
          </a:p>
        </p:txBody>
      </p:sp>
      <p:sp>
        <p:nvSpPr>
          <p:cNvPr id="16" name="TextBox 15"/>
          <p:cNvSpPr txBox="1"/>
          <p:nvPr/>
        </p:nvSpPr>
        <p:spPr>
          <a:xfrm>
            <a:off x="8412480" y="3063240"/>
            <a:ext cx="2971800" cy="1645920"/>
          </a:xfrm>
          <a:prstGeom prst="rect">
            <a:avLst/>
          </a:prstGeom>
          <a:noFill/>
        </p:spPr>
        <p:txBody>
          <a:bodyPr wrap="square" lIns="36576" rIns="36576" tIns="18288" bIns="18288" anchor="t">
            <a:spAutoFit/>
          </a:bodyPr>
          <a:lstStyle/>
          <a:p>
            <a:pPr algn="l"/>
            <a:r>
              <a:rPr sz="1500" b="0">
                <a:solidFill>
                  <a:srgbClr val="94A3B8"/>
                </a:solidFill>
                <a:latin typeface="Arial"/>
              </a:rPr>
              <a:t>Teams won't accept unattended AI changes. They need evidence at every step, and a way to stop the agent.</a:t>
            </a:r>
          </a:p>
        </p:txBody>
      </p:sp>
      <p:sp>
        <p:nvSpPr>
          <p:cNvPr id="17" name="TextBox 16"/>
          <p:cNvSpPr txBox="1"/>
          <p:nvPr/>
        </p:nvSpPr>
        <p:spPr>
          <a:xfrm>
            <a:off x="640080" y="5074920"/>
            <a:ext cx="5486400" cy="274320"/>
          </a:xfrm>
          <a:prstGeom prst="rect">
            <a:avLst/>
          </a:prstGeom>
          <a:noFill/>
        </p:spPr>
        <p:txBody>
          <a:bodyPr wrap="square" lIns="36576" rIns="36576" tIns="18288" bIns="18288" anchor="t">
            <a:spAutoFit/>
          </a:bodyPr>
          <a:lstStyle/>
          <a:p>
            <a:pPr algn="l"/>
            <a:r>
              <a:rPr sz="1100" b="1">
                <a:solidFill>
                  <a:srgbClr val="94A3B8"/>
                </a:solidFill>
                <a:latin typeface="Arial"/>
              </a:rPr>
              <a:t>THE SIX REPOS</a:t>
            </a:r>
          </a:p>
        </p:txBody>
      </p:sp>
      <p:sp>
        <p:nvSpPr>
          <p:cNvPr id="18" name="Rounded Rectangle 17"/>
          <p:cNvSpPr/>
          <p:nvPr/>
        </p:nvSpPr>
        <p:spPr>
          <a:xfrm>
            <a:off x="640080" y="5440680"/>
            <a:ext cx="1764792" cy="384048"/>
          </a:xfrm>
          <a:prstGeom prst="roundRect">
            <a:avLst>
              <a:gd name="adj" fmla="val 50000"/>
            </a:avLst>
          </a:prstGeom>
          <a:noFill/>
          <a:ln w="158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0080" y="5440680"/>
            <a:ext cx="1764792" cy="384048"/>
          </a:xfrm>
          <a:prstGeom prst="rect">
            <a:avLst/>
          </a:prstGeom>
          <a:noFill/>
        </p:spPr>
        <p:txBody>
          <a:bodyPr wrap="square" lIns="36576" rIns="36576" tIns="18288" bIns="18288" anchor="ctr">
            <a:spAutoFit/>
          </a:bodyPr>
          <a:lstStyle/>
          <a:p>
            <a:pPr algn="ctr"/>
            <a:r>
              <a:rPr sz="1100" b="1">
                <a:solidFill>
                  <a:srgbClr val="3B82F6"/>
                </a:solidFill>
                <a:latin typeface="Arial"/>
              </a:rPr>
              <a:t>tb-common-mfe</a:t>
            </a:r>
          </a:p>
        </p:txBody>
      </p:sp>
      <p:sp>
        <p:nvSpPr>
          <p:cNvPr id="20" name="Rounded Rectangle 19"/>
          <p:cNvSpPr/>
          <p:nvPr/>
        </p:nvSpPr>
        <p:spPr>
          <a:xfrm>
            <a:off x="2496311" y="5440680"/>
            <a:ext cx="1764792" cy="384048"/>
          </a:xfrm>
          <a:prstGeom prst="roundRect">
            <a:avLst>
              <a:gd name="adj" fmla="val 50000"/>
            </a:avLst>
          </a:prstGeom>
          <a:noFill/>
          <a:ln w="158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496311" y="5440680"/>
            <a:ext cx="1764792" cy="384048"/>
          </a:xfrm>
          <a:prstGeom prst="rect">
            <a:avLst/>
          </a:prstGeom>
          <a:noFill/>
        </p:spPr>
        <p:txBody>
          <a:bodyPr wrap="square" lIns="36576" rIns="36576" tIns="18288" bIns="18288" anchor="ctr">
            <a:spAutoFit/>
          </a:bodyPr>
          <a:lstStyle/>
          <a:p>
            <a:pPr algn="ctr"/>
            <a:r>
              <a:rPr sz="1100" b="1">
                <a:solidFill>
                  <a:srgbClr val="3B82F6"/>
                </a:solidFill>
                <a:latin typeface="Arial"/>
              </a:rPr>
              <a:t>tb-discovery-mfe</a:t>
            </a:r>
          </a:p>
        </p:txBody>
      </p:sp>
      <p:sp>
        <p:nvSpPr>
          <p:cNvPr id="22" name="Rounded Rectangle 21"/>
          <p:cNvSpPr/>
          <p:nvPr/>
        </p:nvSpPr>
        <p:spPr>
          <a:xfrm>
            <a:off x="4352544" y="5440680"/>
            <a:ext cx="1764792" cy="384048"/>
          </a:xfrm>
          <a:prstGeom prst="roundRect">
            <a:avLst>
              <a:gd name="adj" fmla="val 50000"/>
            </a:avLst>
          </a:prstGeom>
          <a:no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352544" y="5440680"/>
            <a:ext cx="1764792" cy="384048"/>
          </a:xfrm>
          <a:prstGeom prst="rect">
            <a:avLst/>
          </a:prstGeom>
          <a:noFill/>
        </p:spPr>
        <p:txBody>
          <a:bodyPr wrap="square" lIns="36576" rIns="36576" tIns="18288" bIns="18288" anchor="ctr">
            <a:spAutoFit/>
          </a:bodyPr>
          <a:lstStyle/>
          <a:p>
            <a:pPr algn="ctr"/>
            <a:r>
              <a:rPr sz="1100" b="1">
                <a:solidFill>
                  <a:srgbClr val="FBBF24"/>
                </a:solidFill>
                <a:latin typeface="Arial"/>
              </a:rPr>
              <a:t>tb-marketing-xapi</a:t>
            </a:r>
          </a:p>
        </p:txBody>
      </p:sp>
      <p:sp>
        <p:nvSpPr>
          <p:cNvPr id="24" name="Rounded Rectangle 23"/>
          <p:cNvSpPr/>
          <p:nvPr/>
        </p:nvSpPr>
        <p:spPr>
          <a:xfrm>
            <a:off x="6208776" y="5440680"/>
            <a:ext cx="1764792" cy="384048"/>
          </a:xfrm>
          <a:prstGeom prst="roundRect">
            <a:avLst>
              <a:gd name="adj" fmla="val 50000"/>
            </a:avLst>
          </a:prstGeom>
          <a:noFill/>
          <a:ln w="15875">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208776" y="5440680"/>
            <a:ext cx="1764792" cy="384048"/>
          </a:xfrm>
          <a:prstGeom prst="rect">
            <a:avLst/>
          </a:prstGeom>
          <a:noFill/>
        </p:spPr>
        <p:txBody>
          <a:bodyPr wrap="square" lIns="36576" rIns="36576" tIns="18288" bIns="18288" anchor="ctr">
            <a:spAutoFit/>
          </a:bodyPr>
          <a:lstStyle/>
          <a:p>
            <a:pPr algn="ctr"/>
            <a:r>
              <a:rPr sz="1100" b="1">
                <a:solidFill>
                  <a:srgbClr val="F472B6"/>
                </a:solidFill>
                <a:latin typeface="Arial"/>
              </a:rPr>
              <a:t>tb-discovery-xapi</a:t>
            </a:r>
          </a:p>
        </p:txBody>
      </p:sp>
      <p:sp>
        <p:nvSpPr>
          <p:cNvPr id="26" name="Rounded Rectangle 25"/>
          <p:cNvSpPr/>
          <p:nvPr/>
        </p:nvSpPr>
        <p:spPr>
          <a:xfrm>
            <a:off x="8065007" y="5440680"/>
            <a:ext cx="1764792" cy="384048"/>
          </a:xfrm>
          <a:prstGeom prst="roundRect">
            <a:avLst>
              <a:gd name="adj" fmla="val 50000"/>
            </a:avLst>
          </a:prstGeom>
          <a:noFill/>
          <a:ln w="15875">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065007" y="5440680"/>
            <a:ext cx="1764792" cy="384048"/>
          </a:xfrm>
          <a:prstGeom prst="rect">
            <a:avLst/>
          </a:prstGeom>
          <a:noFill/>
        </p:spPr>
        <p:txBody>
          <a:bodyPr wrap="square" lIns="36576" rIns="36576" tIns="18288" bIns="18288" anchor="ctr">
            <a:spAutoFit/>
          </a:bodyPr>
          <a:lstStyle/>
          <a:p>
            <a:pPr algn="ctr"/>
            <a:r>
              <a:rPr sz="1100" b="1">
                <a:solidFill>
                  <a:srgbClr val="F472B6"/>
                </a:solidFill>
                <a:latin typeface="Arial"/>
              </a:rPr>
              <a:t>tb-selection-xapi</a:t>
            </a:r>
          </a:p>
        </p:txBody>
      </p:sp>
      <p:sp>
        <p:nvSpPr>
          <p:cNvPr id="28" name="Rounded Rectangle 27"/>
          <p:cNvSpPr/>
          <p:nvPr/>
        </p:nvSpPr>
        <p:spPr>
          <a:xfrm>
            <a:off x="9921239" y="5440680"/>
            <a:ext cx="1764792" cy="384048"/>
          </a:xfrm>
          <a:prstGeom prst="roundRect">
            <a:avLst>
              <a:gd name="adj" fmla="val 50000"/>
            </a:avLst>
          </a:prstGeom>
          <a:no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921239" y="5440680"/>
            <a:ext cx="1764792" cy="384048"/>
          </a:xfrm>
          <a:prstGeom prst="rect">
            <a:avLst/>
          </a:prstGeom>
          <a:noFill/>
        </p:spPr>
        <p:txBody>
          <a:bodyPr wrap="square" lIns="36576" rIns="36576" tIns="18288" bIns="18288" anchor="ctr">
            <a:spAutoFit/>
          </a:bodyPr>
          <a:lstStyle/>
          <a:p>
            <a:pPr algn="ctr"/>
            <a:r>
              <a:rPr sz="1100" b="1">
                <a:solidFill>
                  <a:srgbClr val="34D399"/>
                </a:solidFill>
                <a:latin typeface="Arial"/>
              </a:rPr>
              <a:t>kairos-fabric</a:t>
            </a:r>
          </a:p>
        </p:txBody>
      </p:sp>
      <p:sp>
        <p:nvSpPr>
          <p:cNvPr id="30" name="TextBox 29"/>
          <p:cNvSpPr txBox="1"/>
          <p:nvPr/>
        </p:nvSpPr>
        <p:spPr>
          <a:xfrm>
            <a:off x="640080" y="5943600"/>
            <a:ext cx="10972800" cy="274320"/>
          </a:xfrm>
          <a:prstGeom prst="rect">
            <a:avLst/>
          </a:prstGeom>
          <a:noFill/>
        </p:spPr>
        <p:txBody>
          <a:bodyPr wrap="square" lIns="36576" rIns="36576" tIns="18288" bIns="18288" anchor="t">
            <a:spAutoFit/>
          </a:bodyPr>
          <a:lstStyle/>
          <a:p>
            <a:pPr algn="l"/>
            <a:r>
              <a:rPr sz="1100" b="0">
                <a:solidFill>
                  <a:srgbClr val="94A3B8"/>
                </a:solidFill>
                <a:latin typeface="Arial"/>
              </a:rPr>
              <a:t>Blue: micro-frontends   Amber: TypeScript API   Pink: Java APIs   Green: design-system library</a:t>
            </a:r>
          </a:p>
        </p:txBody>
      </p:sp>
      <p:sp>
        <p:nvSpPr>
          <p:cNvPr id="31" name="TextBox 30"/>
          <p:cNvSpPr txBox="1"/>
          <p:nvPr/>
        </p:nvSpPr>
        <p:spPr>
          <a:xfrm>
            <a:off x="640080" y="6446520"/>
            <a:ext cx="5486400" cy="274320"/>
          </a:xfrm>
          <a:prstGeom prst="rect">
            <a:avLst/>
          </a:prstGeom>
          <a:noFill/>
        </p:spPr>
        <p:txBody>
          <a:bodyPr wrap="square" lIns="36576" rIns="36576" tIns="18288" bIns="18288" anchor="t">
            <a:spAutoFit/>
          </a:bodyPr>
          <a:lstStyle/>
          <a:p>
            <a:pPr algn="l"/>
            <a:r>
              <a:rPr sz="1000" b="0">
                <a:solidFill>
                  <a:srgbClr val="94A3B8"/>
                </a:solidFill>
                <a:latin typeface="Arial"/>
              </a:rPr>
              <a:t>CodeGraph  |  Hackathon</a:t>
            </a:r>
          </a:p>
        </p:txBody>
      </p:sp>
      <p:sp>
        <p:nvSpPr>
          <p:cNvPr id="32" name="TextBox 31"/>
          <p:cNvSpPr txBox="1"/>
          <p:nvPr/>
        </p:nvSpPr>
        <p:spPr>
          <a:xfrm>
            <a:off x="10820095" y="6446520"/>
            <a:ext cx="731520" cy="274320"/>
          </a:xfrm>
          <a:prstGeom prst="rect">
            <a:avLst/>
          </a:prstGeom>
          <a:noFill/>
        </p:spPr>
        <p:txBody>
          <a:bodyPr wrap="square" lIns="36576" rIns="36576" tIns="18288" bIns="18288" anchor="t">
            <a:spAutoFit/>
          </a:bodyPr>
          <a:lstStyle/>
          <a:p>
            <a:pPr algn="r"/>
            <a:r>
              <a:rPr sz="1000" b="0">
                <a:solidFill>
                  <a:srgbClr val="94A3B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lIns="36576" rIns="36576" tIns="18288" bIns="18288" anchor="t">
            <a:spAutoFit/>
          </a:bodyPr>
          <a:lstStyle/>
          <a:p>
            <a:pPr algn="l"/>
            <a:r>
              <a:rPr sz="1200" b="1">
                <a:solidFill>
                  <a:srgbClr val="8B5CF6"/>
                </a:solidFill>
                <a:latin typeface="Arial"/>
              </a:rPr>
              <a:t>THE SOLUTION</a:t>
            </a:r>
          </a:p>
        </p:txBody>
      </p:sp>
      <p:sp>
        <p:nvSpPr>
          <p:cNvPr id="3" name="TextBox 2"/>
          <p:cNvSpPr txBox="1"/>
          <p:nvPr/>
        </p:nvSpPr>
        <p:spPr>
          <a:xfrm>
            <a:off x="640080" y="731520"/>
            <a:ext cx="10881360" cy="822960"/>
          </a:xfrm>
          <a:prstGeom prst="rect">
            <a:avLst/>
          </a:prstGeom>
          <a:noFill/>
        </p:spPr>
        <p:txBody>
          <a:bodyPr wrap="square" lIns="36576" rIns="36576" tIns="18288" bIns="18288" anchor="t">
            <a:spAutoFit/>
          </a:bodyPr>
          <a:lstStyle/>
          <a:p>
            <a:pPr algn="l"/>
            <a:r>
              <a:rPr sz="3200" b="1">
                <a:solidFill>
                  <a:srgbClr val="F1F5F9"/>
                </a:solidFill>
                <a:latin typeface="Arial"/>
              </a:rPr>
              <a:t>One graph, three workflows</a:t>
            </a:r>
          </a:p>
        </p:txBody>
      </p:sp>
      <p:sp>
        <p:nvSpPr>
          <p:cNvPr id="4" name="Rectangle 3"/>
          <p:cNvSpPr/>
          <p:nvPr/>
        </p:nvSpPr>
        <p:spPr>
          <a:xfrm>
            <a:off x="676656" y="1481328"/>
            <a:ext cx="822960" cy="457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640080" y="1828800"/>
            <a:ext cx="3474720" cy="3246120"/>
          </a:xfrm>
          <a:prstGeom prst="roundRect">
            <a:avLst>
              <a:gd name="adj" fmla="val 8000"/>
            </a:avLst>
          </a:prstGeom>
          <a:solidFill>
            <a:srgbClr val="141824"/>
          </a:solidFill>
          <a:ln w="190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2011680"/>
            <a:ext cx="2926080" cy="274320"/>
          </a:xfrm>
          <a:prstGeom prst="rect">
            <a:avLst/>
          </a:prstGeom>
          <a:noFill/>
        </p:spPr>
        <p:txBody>
          <a:bodyPr wrap="square" lIns="36576" rIns="36576" tIns="18288" bIns="18288" anchor="t">
            <a:spAutoFit/>
          </a:bodyPr>
          <a:lstStyle/>
          <a:p>
            <a:pPr algn="l"/>
            <a:r>
              <a:rPr sz="1200" b="1">
                <a:solidFill>
                  <a:srgbClr val="22D3EE"/>
                </a:solidFill>
                <a:latin typeface="Arial"/>
              </a:rPr>
              <a:t>SEE</a:t>
            </a:r>
          </a:p>
        </p:txBody>
      </p:sp>
      <p:sp>
        <p:nvSpPr>
          <p:cNvPr id="7" name="TextBox 6"/>
          <p:cNvSpPr txBox="1"/>
          <p:nvPr/>
        </p:nvSpPr>
        <p:spPr>
          <a:xfrm>
            <a:off x="914400" y="2286000"/>
            <a:ext cx="3017520" cy="548640"/>
          </a:xfrm>
          <a:prstGeom prst="rect">
            <a:avLst/>
          </a:prstGeom>
          <a:noFill/>
        </p:spPr>
        <p:txBody>
          <a:bodyPr wrap="square" lIns="36576" rIns="36576" tIns="18288" bIns="18288" anchor="t">
            <a:spAutoFit/>
          </a:bodyPr>
          <a:lstStyle/>
          <a:p>
            <a:pPr algn="l"/>
            <a:r>
              <a:rPr sz="2600" b="1">
                <a:solidFill>
                  <a:srgbClr val="F1F5F9"/>
                </a:solidFill>
                <a:latin typeface="Arial"/>
              </a:rPr>
              <a:t>View Graph</a:t>
            </a:r>
          </a:p>
        </p:txBody>
      </p:sp>
      <p:sp>
        <p:nvSpPr>
          <p:cNvPr id="8" name="TextBox 7"/>
          <p:cNvSpPr txBox="1"/>
          <p:nvPr/>
        </p:nvSpPr>
        <p:spPr>
          <a:xfrm>
            <a:off x="914400" y="2926080"/>
            <a:ext cx="2971800" cy="1463040"/>
          </a:xfrm>
          <a:prstGeom prst="rect">
            <a:avLst/>
          </a:prstGeom>
          <a:noFill/>
        </p:spPr>
        <p:txBody>
          <a:bodyPr wrap="square" lIns="36576" rIns="36576" tIns="18288" bIns="18288" anchor="t">
            <a:spAutoFit/>
          </a:bodyPr>
          <a:lstStyle/>
          <a:p>
            <a:pPr algn="l"/>
            <a:r>
              <a:rPr sz="1400" b="0">
                <a:solidFill>
                  <a:srgbClr val="94A3B8"/>
                </a:solidFill>
                <a:latin typeface="Arial"/>
              </a:rPr>
              <a:t>Explore how repos, files, components, endpoints, tables and packages connect, including links across repos.</a:t>
            </a:r>
          </a:p>
        </p:txBody>
      </p:sp>
      <p:sp>
        <p:nvSpPr>
          <p:cNvPr id="9" name="Rounded Rectangle 8"/>
          <p:cNvSpPr/>
          <p:nvPr/>
        </p:nvSpPr>
        <p:spPr>
          <a:xfrm>
            <a:off x="914400" y="4526280"/>
            <a:ext cx="2377440" cy="310896"/>
          </a:xfrm>
          <a:prstGeom prst="roundRect">
            <a:avLst>
              <a:gd name="adj" fmla="val 50000"/>
            </a:avLst>
          </a:prstGeom>
          <a:no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4526280"/>
            <a:ext cx="2377440" cy="310896"/>
          </a:xfrm>
          <a:prstGeom prst="rect">
            <a:avLst/>
          </a:prstGeom>
          <a:noFill/>
        </p:spPr>
        <p:txBody>
          <a:bodyPr wrap="square" lIns="36576" rIns="36576" tIns="18288" bIns="18288" anchor="ctr">
            <a:spAutoFit/>
          </a:bodyPr>
          <a:lstStyle/>
          <a:p>
            <a:pPr algn="ctr"/>
            <a:r>
              <a:rPr sz="1100" b="1">
                <a:solidFill>
                  <a:srgbClr val="22D3EE"/>
                </a:solidFill>
                <a:latin typeface="Arial"/>
              </a:rPr>
              <a:t>No code changes</a:t>
            </a:r>
          </a:p>
        </p:txBody>
      </p:sp>
      <p:sp>
        <p:nvSpPr>
          <p:cNvPr id="11" name="Rounded Rectangle 10"/>
          <p:cNvSpPr/>
          <p:nvPr/>
        </p:nvSpPr>
        <p:spPr>
          <a:xfrm>
            <a:off x="4389120" y="1828800"/>
            <a:ext cx="3474720" cy="3246120"/>
          </a:xfrm>
          <a:prstGeom prst="roundRect">
            <a:avLst>
              <a:gd name="adj" fmla="val 8000"/>
            </a:avLst>
          </a:prstGeom>
          <a:solidFill>
            <a:srgbClr val="141824"/>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663440" y="2011680"/>
            <a:ext cx="2926080" cy="274320"/>
          </a:xfrm>
          <a:prstGeom prst="rect">
            <a:avLst/>
          </a:prstGeom>
          <a:noFill/>
        </p:spPr>
        <p:txBody>
          <a:bodyPr wrap="square" lIns="36576" rIns="36576" tIns="18288" bIns="18288" anchor="t">
            <a:spAutoFit/>
          </a:bodyPr>
          <a:lstStyle/>
          <a:p>
            <a:pPr algn="l"/>
            <a:r>
              <a:rPr sz="1200" b="1">
                <a:solidFill>
                  <a:srgbClr val="8B5CF6"/>
                </a:solidFill>
                <a:latin typeface="Arial"/>
              </a:rPr>
              <a:t>QUESTION</a:t>
            </a:r>
          </a:p>
        </p:txBody>
      </p:sp>
      <p:sp>
        <p:nvSpPr>
          <p:cNvPr id="13" name="TextBox 12"/>
          <p:cNvSpPr txBox="1"/>
          <p:nvPr/>
        </p:nvSpPr>
        <p:spPr>
          <a:xfrm>
            <a:off x="4663440" y="2286000"/>
            <a:ext cx="3017520" cy="548640"/>
          </a:xfrm>
          <a:prstGeom prst="rect">
            <a:avLst/>
          </a:prstGeom>
          <a:noFill/>
        </p:spPr>
        <p:txBody>
          <a:bodyPr wrap="square" lIns="36576" rIns="36576" tIns="18288" bIns="18288" anchor="t">
            <a:spAutoFit/>
          </a:bodyPr>
          <a:lstStyle/>
          <a:p>
            <a:pPr algn="l"/>
            <a:r>
              <a:rPr sz="2600" b="1">
                <a:solidFill>
                  <a:srgbClr val="F1F5F9"/>
                </a:solidFill>
                <a:latin typeface="Arial"/>
              </a:rPr>
              <a:t>Ask AI</a:t>
            </a:r>
          </a:p>
        </p:txBody>
      </p:sp>
      <p:sp>
        <p:nvSpPr>
          <p:cNvPr id="14" name="TextBox 13"/>
          <p:cNvSpPr txBox="1"/>
          <p:nvPr/>
        </p:nvSpPr>
        <p:spPr>
          <a:xfrm>
            <a:off x="4663440" y="2926080"/>
            <a:ext cx="2971800" cy="1463040"/>
          </a:xfrm>
          <a:prstGeom prst="rect">
            <a:avLst/>
          </a:prstGeom>
          <a:noFill/>
        </p:spPr>
        <p:txBody>
          <a:bodyPr wrap="square" lIns="36576" rIns="36576" tIns="18288" bIns="18288" anchor="t">
            <a:spAutoFit/>
          </a:bodyPr>
          <a:lstStyle/>
          <a:p>
            <a:pPr algn="l"/>
            <a:r>
              <a:rPr sz="1400" b="0">
                <a:solidFill>
                  <a:srgbClr val="94A3B8"/>
                </a:solidFill>
                <a:latin typeface="Arial"/>
              </a:rPr>
              <a:t>Ask in plain English and get an answer with real file names and line numbers.</a:t>
            </a:r>
          </a:p>
        </p:txBody>
      </p:sp>
      <p:sp>
        <p:nvSpPr>
          <p:cNvPr id="15" name="Rounded Rectangle 14"/>
          <p:cNvSpPr/>
          <p:nvPr/>
        </p:nvSpPr>
        <p:spPr>
          <a:xfrm>
            <a:off x="4663440" y="4526280"/>
            <a:ext cx="2377440" cy="310896"/>
          </a:xfrm>
          <a:prstGeom prst="roundRect">
            <a:avLst>
              <a:gd name="adj" fmla="val 50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663440" y="4526280"/>
            <a:ext cx="2377440" cy="310896"/>
          </a:xfrm>
          <a:prstGeom prst="rect">
            <a:avLst/>
          </a:prstGeom>
          <a:noFill/>
        </p:spPr>
        <p:txBody>
          <a:bodyPr wrap="square" lIns="36576" rIns="36576" tIns="18288" bIns="18288" anchor="ctr">
            <a:spAutoFit/>
          </a:bodyPr>
          <a:lstStyle/>
          <a:p>
            <a:pPr algn="ctr"/>
            <a:r>
              <a:rPr sz="1100" b="1">
                <a:solidFill>
                  <a:srgbClr val="8B5CF6"/>
                </a:solidFill>
                <a:latin typeface="Arial"/>
              </a:rPr>
              <a:t>Read-only</a:t>
            </a:r>
          </a:p>
        </p:txBody>
      </p:sp>
      <p:sp>
        <p:nvSpPr>
          <p:cNvPr id="17" name="Rounded Rectangle 16"/>
          <p:cNvSpPr/>
          <p:nvPr/>
        </p:nvSpPr>
        <p:spPr>
          <a:xfrm>
            <a:off x="8138159" y="1828800"/>
            <a:ext cx="3474720" cy="3246120"/>
          </a:xfrm>
          <a:prstGeom prst="roundRect">
            <a:avLst>
              <a:gd name="adj" fmla="val 8000"/>
            </a:avLst>
          </a:prstGeom>
          <a:solidFill>
            <a:srgbClr val="141824"/>
          </a:solidFill>
          <a:ln w="1905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80" y="2011680"/>
            <a:ext cx="2926080" cy="274320"/>
          </a:xfrm>
          <a:prstGeom prst="rect">
            <a:avLst/>
          </a:prstGeom>
          <a:noFill/>
        </p:spPr>
        <p:txBody>
          <a:bodyPr wrap="square" lIns="36576" rIns="36576" tIns="18288" bIns="18288" anchor="t">
            <a:spAutoFit/>
          </a:bodyPr>
          <a:lstStyle/>
          <a:p>
            <a:pPr algn="l"/>
            <a:r>
              <a:rPr sz="1200" b="1">
                <a:solidFill>
                  <a:srgbClr val="34D399"/>
                </a:solidFill>
                <a:latin typeface="Arial"/>
              </a:rPr>
              <a:t>REPAIR</a:t>
            </a:r>
          </a:p>
        </p:txBody>
      </p:sp>
      <p:sp>
        <p:nvSpPr>
          <p:cNvPr id="19" name="TextBox 18"/>
          <p:cNvSpPr txBox="1"/>
          <p:nvPr/>
        </p:nvSpPr>
        <p:spPr>
          <a:xfrm>
            <a:off x="8412480" y="2286000"/>
            <a:ext cx="3017520" cy="548640"/>
          </a:xfrm>
          <a:prstGeom prst="rect">
            <a:avLst/>
          </a:prstGeom>
          <a:noFill/>
        </p:spPr>
        <p:txBody>
          <a:bodyPr wrap="square" lIns="36576" rIns="36576" tIns="18288" bIns="18288" anchor="t">
            <a:spAutoFit/>
          </a:bodyPr>
          <a:lstStyle/>
          <a:p>
            <a:pPr algn="l"/>
            <a:r>
              <a:rPr sz="2600" b="1">
                <a:solidFill>
                  <a:srgbClr val="F1F5F9"/>
                </a:solidFill>
                <a:latin typeface="Arial"/>
              </a:rPr>
              <a:t>Fix Bugs</a:t>
            </a:r>
          </a:p>
        </p:txBody>
      </p:sp>
      <p:sp>
        <p:nvSpPr>
          <p:cNvPr id="20" name="TextBox 19"/>
          <p:cNvSpPr txBox="1"/>
          <p:nvPr/>
        </p:nvSpPr>
        <p:spPr>
          <a:xfrm>
            <a:off x="8412480" y="2926080"/>
            <a:ext cx="2971800" cy="1463040"/>
          </a:xfrm>
          <a:prstGeom prst="rect">
            <a:avLst/>
          </a:prstGeom>
          <a:noFill/>
        </p:spPr>
        <p:txBody>
          <a:bodyPr wrap="square" lIns="36576" rIns="36576" tIns="18288" bIns="18288" anchor="t">
            <a:spAutoFit/>
          </a:bodyPr>
          <a:lstStyle/>
          <a:p>
            <a:pPr algn="l"/>
            <a:r>
              <a:rPr sz="1400" b="0">
                <a:solidFill>
                  <a:srgbClr val="94A3B8"/>
                </a:solidFill>
                <a:latin typeface="Arial"/>
              </a:rPr>
              <a:t>Paste an error. An agent finds the cause, proves it with a failing test, fixes it minimally and opens a PR through 4 human gates.</a:t>
            </a:r>
          </a:p>
        </p:txBody>
      </p:sp>
      <p:sp>
        <p:nvSpPr>
          <p:cNvPr id="21" name="Rounded Rectangle 20"/>
          <p:cNvSpPr/>
          <p:nvPr/>
        </p:nvSpPr>
        <p:spPr>
          <a:xfrm>
            <a:off x="8412480" y="4526280"/>
            <a:ext cx="2377440" cy="310896"/>
          </a:xfrm>
          <a:prstGeom prst="roundRect">
            <a:avLst>
              <a:gd name="adj" fmla="val 50000"/>
            </a:avLst>
          </a:prstGeom>
          <a:no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80" y="4526280"/>
            <a:ext cx="2377440" cy="310896"/>
          </a:xfrm>
          <a:prstGeom prst="rect">
            <a:avLst/>
          </a:prstGeom>
          <a:noFill/>
        </p:spPr>
        <p:txBody>
          <a:bodyPr wrap="square" lIns="36576" rIns="36576" tIns="18288" bIns="18288" anchor="ctr">
            <a:spAutoFit/>
          </a:bodyPr>
          <a:lstStyle/>
          <a:p>
            <a:pPr algn="ctr"/>
            <a:r>
              <a:rPr sz="1100" b="1">
                <a:solidFill>
                  <a:srgbClr val="34D399"/>
                </a:solidFill>
                <a:latin typeface="Arial"/>
              </a:rPr>
              <a:t>Branch only. Never merges.</a:t>
            </a:r>
          </a:p>
        </p:txBody>
      </p:sp>
      <p:sp>
        <p:nvSpPr>
          <p:cNvPr id="23" name="Rounded Rectangle 22"/>
          <p:cNvSpPr/>
          <p:nvPr/>
        </p:nvSpPr>
        <p:spPr>
          <a:xfrm>
            <a:off x="640080" y="5349240"/>
            <a:ext cx="10881360" cy="868680"/>
          </a:xfrm>
          <a:prstGeom prst="roundRect">
            <a:avLst>
              <a:gd name="adj" fmla="val 8000"/>
            </a:avLst>
          </a:prstGeom>
          <a:solidFill>
            <a:srgbClr val="141824"/>
          </a:solidFill>
          <a:ln w="12700">
            <a:solidFill>
              <a:srgbClr val="2A314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68680" y="5394960"/>
            <a:ext cx="2743200" cy="274320"/>
          </a:xfrm>
          <a:prstGeom prst="rect">
            <a:avLst/>
          </a:prstGeom>
          <a:noFill/>
        </p:spPr>
        <p:txBody>
          <a:bodyPr wrap="square" lIns="36576" rIns="36576" tIns="18288" bIns="18288" anchor="t">
            <a:spAutoFit/>
          </a:bodyPr>
          <a:lstStyle/>
          <a:p>
            <a:pPr algn="l"/>
            <a:r>
              <a:rPr sz="1100" b="1">
                <a:solidFill>
                  <a:srgbClr val="94A3B8"/>
                </a:solidFill>
                <a:latin typeface="Arial"/>
              </a:rPr>
              <a:t>SHARED FOUNDATION</a:t>
            </a:r>
          </a:p>
        </p:txBody>
      </p:sp>
      <p:sp>
        <p:nvSpPr>
          <p:cNvPr id="25" name="Rectangle 24"/>
          <p:cNvSpPr/>
          <p:nvPr/>
        </p:nvSpPr>
        <p:spPr>
          <a:xfrm>
            <a:off x="868680" y="5696712"/>
            <a:ext cx="82296"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669280"/>
            <a:ext cx="3291840" cy="457200"/>
          </a:xfrm>
          <a:prstGeom prst="rect">
            <a:avLst/>
          </a:prstGeom>
          <a:noFill/>
        </p:spPr>
        <p:txBody>
          <a:bodyPr wrap="square" lIns="36576" rIns="36576" tIns="18288" bIns="18288" anchor="t">
            <a:spAutoFit/>
          </a:bodyPr>
          <a:lstStyle/>
          <a:p>
            <a:pPr algn="l"/>
            <a:r>
              <a:rPr sz="1400" b="1">
                <a:solidFill>
                  <a:srgbClr val="F1F5F9"/>
                </a:solidFill>
                <a:latin typeface="Arial"/>
              </a:rPr>
              <a:t>Cross-repo knowledge graph</a:t>
            </a:r>
          </a:p>
          <a:p>
            <a:pPr algn="l"/>
            <a:r>
              <a:rPr sz="1100" b="0">
                <a:solidFill>
                  <a:srgbClr val="94A3B8"/>
                </a:solidFill>
                <a:latin typeface="Arial"/>
              </a:rPr>
              <a:t>Graphify + Neo4j</a:t>
            </a:r>
          </a:p>
        </p:txBody>
      </p:sp>
      <p:sp>
        <p:nvSpPr>
          <p:cNvPr id="27" name="Rectangle 26"/>
          <p:cNvSpPr/>
          <p:nvPr/>
        </p:nvSpPr>
        <p:spPr>
          <a:xfrm>
            <a:off x="4480560" y="5696712"/>
            <a:ext cx="82296" cy="3840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663440" y="5669280"/>
            <a:ext cx="3291840" cy="457200"/>
          </a:xfrm>
          <a:prstGeom prst="rect">
            <a:avLst/>
          </a:prstGeom>
          <a:noFill/>
        </p:spPr>
        <p:txBody>
          <a:bodyPr wrap="square" lIns="36576" rIns="36576" tIns="18288" bIns="18288" anchor="t">
            <a:spAutoFit/>
          </a:bodyPr>
          <a:lstStyle/>
          <a:p>
            <a:pPr algn="l"/>
            <a:r>
              <a:rPr sz="1400" b="1">
                <a:solidFill>
                  <a:srgbClr val="F1F5F9"/>
                </a:solidFill>
                <a:latin typeface="Arial"/>
              </a:rPr>
              <a:t>React dashboard</a:t>
            </a:r>
          </a:p>
          <a:p>
            <a:pPr algn="l"/>
            <a:r>
              <a:rPr sz="1100" b="0">
                <a:solidFill>
                  <a:srgbClr val="94A3B8"/>
                </a:solidFill>
                <a:latin typeface="Arial"/>
              </a:rPr>
              <a:t>React Flow</a:t>
            </a:r>
          </a:p>
        </p:txBody>
      </p:sp>
      <p:sp>
        <p:nvSpPr>
          <p:cNvPr id="29" name="Rectangle 28"/>
          <p:cNvSpPr/>
          <p:nvPr/>
        </p:nvSpPr>
        <p:spPr>
          <a:xfrm>
            <a:off x="8092440" y="5696712"/>
            <a:ext cx="82296" cy="38404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75319" y="5669280"/>
            <a:ext cx="3291840" cy="457200"/>
          </a:xfrm>
          <a:prstGeom prst="rect">
            <a:avLst/>
          </a:prstGeom>
          <a:noFill/>
        </p:spPr>
        <p:txBody>
          <a:bodyPr wrap="square" lIns="36576" rIns="36576" tIns="18288" bIns="18288" anchor="t">
            <a:spAutoFit/>
          </a:bodyPr>
          <a:lstStyle/>
          <a:p>
            <a:pPr algn="l"/>
            <a:r>
              <a:rPr sz="1400" b="1">
                <a:solidFill>
                  <a:srgbClr val="F1F5F9"/>
                </a:solidFill>
                <a:latin typeface="Arial"/>
              </a:rPr>
              <a:t>Cursor SDK agents</a:t>
            </a:r>
          </a:p>
          <a:p>
            <a:pPr algn="l"/>
            <a:r>
              <a:rPr sz="1100" b="0">
                <a:solidFill>
                  <a:srgbClr val="94A3B8"/>
                </a:solidFill>
                <a:latin typeface="Arial"/>
              </a:rPr>
              <a:t>grounded by the graph</a:t>
            </a:r>
          </a:p>
        </p:txBody>
      </p:sp>
      <p:sp>
        <p:nvSpPr>
          <p:cNvPr id="31" name="TextBox 30"/>
          <p:cNvSpPr txBox="1"/>
          <p:nvPr/>
        </p:nvSpPr>
        <p:spPr>
          <a:xfrm>
            <a:off x="640080" y="6446520"/>
            <a:ext cx="5486400" cy="274320"/>
          </a:xfrm>
          <a:prstGeom prst="rect">
            <a:avLst/>
          </a:prstGeom>
          <a:noFill/>
        </p:spPr>
        <p:txBody>
          <a:bodyPr wrap="square" lIns="36576" rIns="36576" tIns="18288" bIns="18288" anchor="t">
            <a:spAutoFit/>
          </a:bodyPr>
          <a:lstStyle/>
          <a:p>
            <a:pPr algn="l"/>
            <a:r>
              <a:rPr sz="1000" b="0">
                <a:solidFill>
                  <a:srgbClr val="94A3B8"/>
                </a:solidFill>
                <a:latin typeface="Arial"/>
              </a:rPr>
              <a:t>CodeGraph  |  Hackathon</a:t>
            </a:r>
          </a:p>
        </p:txBody>
      </p:sp>
      <p:sp>
        <p:nvSpPr>
          <p:cNvPr id="32" name="TextBox 31"/>
          <p:cNvSpPr txBox="1"/>
          <p:nvPr/>
        </p:nvSpPr>
        <p:spPr>
          <a:xfrm>
            <a:off x="10820095" y="6446520"/>
            <a:ext cx="731520" cy="274320"/>
          </a:xfrm>
          <a:prstGeom prst="rect">
            <a:avLst/>
          </a:prstGeom>
          <a:noFill/>
        </p:spPr>
        <p:txBody>
          <a:bodyPr wrap="square" lIns="36576" rIns="36576" tIns="18288" bIns="18288" anchor="t">
            <a:spAutoFit/>
          </a:bodyPr>
          <a:lstStyle/>
          <a:p>
            <a:pPr algn="r"/>
            <a:r>
              <a:rPr sz="1000" b="0">
                <a:solidFill>
                  <a:srgbClr val="94A3B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lIns="36576" rIns="36576" tIns="18288" bIns="18288" anchor="t">
            <a:spAutoFit/>
          </a:bodyPr>
          <a:lstStyle/>
          <a:p>
            <a:pPr algn="l"/>
            <a:r>
              <a:rPr sz="1200" b="1">
                <a:solidFill>
                  <a:srgbClr val="22D3EE"/>
                </a:solidFill>
                <a:latin typeface="Arial"/>
              </a:rPr>
              <a:t>ARCHITECTURE</a:t>
            </a:r>
          </a:p>
        </p:txBody>
      </p:sp>
      <p:sp>
        <p:nvSpPr>
          <p:cNvPr id="3" name="TextBox 2"/>
          <p:cNvSpPr txBox="1"/>
          <p:nvPr/>
        </p:nvSpPr>
        <p:spPr>
          <a:xfrm>
            <a:off x="640080" y="731520"/>
            <a:ext cx="10881360" cy="822960"/>
          </a:xfrm>
          <a:prstGeom prst="rect">
            <a:avLst/>
          </a:prstGeom>
          <a:noFill/>
        </p:spPr>
        <p:txBody>
          <a:bodyPr wrap="square" lIns="36576" rIns="36576" tIns="18288" bIns="18288" anchor="t">
            <a:spAutoFit/>
          </a:bodyPr>
          <a:lstStyle/>
          <a:p>
            <a:pPr algn="l"/>
            <a:r>
              <a:rPr sz="3200" b="1">
                <a:solidFill>
                  <a:srgbClr val="F1F5F9"/>
                </a:solidFill>
                <a:latin typeface="Arial"/>
              </a:rPr>
              <a:t>How the pieces fit together</a:t>
            </a:r>
          </a:p>
        </p:txBody>
      </p:sp>
      <p:sp>
        <p:nvSpPr>
          <p:cNvPr id="4" name="Rectangle 3"/>
          <p:cNvSpPr/>
          <p:nvPr/>
        </p:nvSpPr>
        <p:spPr>
          <a:xfrm>
            <a:off x="676656" y="1481328"/>
            <a:ext cx="8229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640080" y="2057400"/>
            <a:ext cx="1737360" cy="914400"/>
          </a:xfrm>
          <a:prstGeom prst="roundRect">
            <a:avLst>
              <a:gd name="adj" fmla="val 8000"/>
            </a:avLst>
          </a:prstGeom>
          <a:solidFill>
            <a:srgbClr val="141824"/>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2057400"/>
            <a:ext cx="1645919" cy="914400"/>
          </a:xfrm>
          <a:prstGeom prst="rect">
            <a:avLst/>
          </a:prstGeom>
          <a:noFill/>
        </p:spPr>
        <p:txBody>
          <a:bodyPr wrap="square" lIns="36576" rIns="36576" tIns="18288" bIns="18288" anchor="ctr">
            <a:spAutoFit/>
          </a:bodyPr>
          <a:lstStyle/>
          <a:p>
            <a:pPr algn="ctr"/>
            <a:r>
              <a:rPr sz="1500" b="1">
                <a:solidFill>
                  <a:srgbClr val="F1F5F9"/>
                </a:solidFill>
                <a:latin typeface="Arial"/>
              </a:rPr>
              <a:t>6 work repos</a:t>
            </a:r>
          </a:p>
          <a:p>
            <a:pPr algn="ctr"/>
            <a:r>
              <a:rPr sz="1100" b="0">
                <a:solidFill>
                  <a:srgbClr val="94A3B8"/>
                </a:solidFill>
                <a:latin typeface="Arial"/>
              </a:rPr>
              <a:t>source code</a:t>
            </a:r>
          </a:p>
        </p:txBody>
      </p:sp>
      <p:sp>
        <p:nvSpPr>
          <p:cNvPr id="7" name="Rounded Rectangle 6"/>
          <p:cNvSpPr/>
          <p:nvPr/>
        </p:nvSpPr>
        <p:spPr>
          <a:xfrm>
            <a:off x="2880360" y="2057400"/>
            <a:ext cx="1737360" cy="914400"/>
          </a:xfrm>
          <a:prstGeom prst="roundRect">
            <a:avLst>
              <a:gd name="adj" fmla="val 8000"/>
            </a:avLst>
          </a:prstGeom>
          <a:solidFill>
            <a:srgbClr val="141824"/>
          </a:solidFill>
          <a:ln w="190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926079" y="2057400"/>
            <a:ext cx="1645919" cy="914400"/>
          </a:xfrm>
          <a:prstGeom prst="rect">
            <a:avLst/>
          </a:prstGeom>
          <a:noFill/>
        </p:spPr>
        <p:txBody>
          <a:bodyPr wrap="square" lIns="36576" rIns="36576" tIns="18288" bIns="18288" anchor="ctr">
            <a:spAutoFit/>
          </a:bodyPr>
          <a:lstStyle/>
          <a:p>
            <a:pPr algn="ctr"/>
            <a:r>
              <a:rPr sz="1500" b="1">
                <a:solidFill>
                  <a:srgbClr val="F1F5F9"/>
                </a:solidFill>
                <a:latin typeface="Arial"/>
              </a:rPr>
              <a:t>Graphify</a:t>
            </a:r>
          </a:p>
          <a:p>
            <a:pPr algn="ctr"/>
            <a:r>
              <a:rPr sz="1100" b="0">
                <a:solidFill>
                  <a:srgbClr val="94A3B8"/>
                </a:solidFill>
                <a:latin typeface="Arial"/>
              </a:rPr>
              <a:t>extract and link</a:t>
            </a:r>
          </a:p>
        </p:txBody>
      </p:sp>
      <p:sp>
        <p:nvSpPr>
          <p:cNvPr id="9" name="Rounded Rectangle 8"/>
          <p:cNvSpPr/>
          <p:nvPr/>
        </p:nvSpPr>
        <p:spPr>
          <a:xfrm>
            <a:off x="5120640" y="2057400"/>
            <a:ext cx="1737360" cy="914400"/>
          </a:xfrm>
          <a:prstGeom prst="roundRect">
            <a:avLst>
              <a:gd name="adj" fmla="val 8000"/>
            </a:avLst>
          </a:prstGeom>
          <a:solidFill>
            <a:srgbClr val="141824"/>
          </a:solidFill>
          <a:ln w="1905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166359" y="2057400"/>
            <a:ext cx="1645919" cy="914400"/>
          </a:xfrm>
          <a:prstGeom prst="rect">
            <a:avLst/>
          </a:prstGeom>
          <a:noFill/>
        </p:spPr>
        <p:txBody>
          <a:bodyPr wrap="square" lIns="36576" rIns="36576" tIns="18288" bIns="18288" anchor="ctr">
            <a:spAutoFit/>
          </a:bodyPr>
          <a:lstStyle/>
          <a:p>
            <a:pPr algn="ctr"/>
            <a:r>
              <a:rPr sz="1500" b="1">
                <a:solidFill>
                  <a:srgbClr val="F1F5F9"/>
                </a:solidFill>
                <a:latin typeface="Arial"/>
              </a:rPr>
              <a:t>Neo4j</a:t>
            </a:r>
          </a:p>
          <a:p>
            <a:pPr algn="ctr"/>
            <a:r>
              <a:rPr sz="1100" b="0">
                <a:solidFill>
                  <a:srgbClr val="94A3B8"/>
                </a:solidFill>
                <a:latin typeface="Arial"/>
              </a:rPr>
              <a:t>knowledge graph</a:t>
            </a:r>
          </a:p>
        </p:txBody>
      </p:sp>
      <p:sp>
        <p:nvSpPr>
          <p:cNvPr id="11" name="Rounded Rectangle 10"/>
          <p:cNvSpPr/>
          <p:nvPr/>
        </p:nvSpPr>
        <p:spPr>
          <a:xfrm>
            <a:off x="7360920" y="2057400"/>
            <a:ext cx="1737360" cy="914400"/>
          </a:xfrm>
          <a:prstGeom prst="roundRect">
            <a:avLst>
              <a:gd name="adj" fmla="val 8000"/>
            </a:avLst>
          </a:prstGeom>
          <a:solidFill>
            <a:srgbClr val="141824"/>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06640" y="2057400"/>
            <a:ext cx="1645919" cy="914400"/>
          </a:xfrm>
          <a:prstGeom prst="rect">
            <a:avLst/>
          </a:prstGeom>
          <a:noFill/>
        </p:spPr>
        <p:txBody>
          <a:bodyPr wrap="square" lIns="36576" rIns="36576" tIns="18288" bIns="18288" anchor="ctr">
            <a:spAutoFit/>
          </a:bodyPr>
          <a:lstStyle/>
          <a:p>
            <a:pPr algn="ctr"/>
            <a:r>
              <a:rPr sz="1500" b="1">
                <a:solidFill>
                  <a:srgbClr val="F1F5F9"/>
                </a:solidFill>
                <a:latin typeface="Arial"/>
              </a:rPr>
              <a:t>FastAPI</a:t>
            </a:r>
          </a:p>
          <a:p>
            <a:pPr algn="ctr"/>
            <a:r>
              <a:rPr sz="1100" b="0">
                <a:solidFill>
                  <a:srgbClr val="94A3B8"/>
                </a:solidFill>
                <a:latin typeface="Arial"/>
              </a:rPr>
              <a:t>port 8000</a:t>
            </a:r>
          </a:p>
        </p:txBody>
      </p:sp>
      <p:sp>
        <p:nvSpPr>
          <p:cNvPr id="13" name="Rounded Rectangle 12"/>
          <p:cNvSpPr/>
          <p:nvPr/>
        </p:nvSpPr>
        <p:spPr>
          <a:xfrm>
            <a:off x="9601200" y="2057400"/>
            <a:ext cx="1920240" cy="914400"/>
          </a:xfrm>
          <a:prstGeom prst="roundRect">
            <a:avLst>
              <a:gd name="adj" fmla="val 8000"/>
            </a:avLst>
          </a:prstGeom>
          <a:solidFill>
            <a:srgbClr val="141824"/>
          </a:solidFill>
          <a:ln w="1905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46920" y="2057400"/>
            <a:ext cx="1828800" cy="914400"/>
          </a:xfrm>
          <a:prstGeom prst="rect">
            <a:avLst/>
          </a:prstGeom>
          <a:noFill/>
        </p:spPr>
        <p:txBody>
          <a:bodyPr wrap="square" lIns="36576" rIns="36576" tIns="18288" bIns="18288" anchor="ctr">
            <a:spAutoFit/>
          </a:bodyPr>
          <a:lstStyle/>
          <a:p>
            <a:pPr algn="ctr"/>
            <a:r>
              <a:rPr sz="1500" b="1">
                <a:solidFill>
                  <a:srgbClr val="F1F5F9"/>
                </a:solidFill>
                <a:latin typeface="Arial"/>
              </a:rPr>
              <a:t>React dashboard</a:t>
            </a:r>
          </a:p>
          <a:p>
            <a:pPr algn="ctr"/>
            <a:r>
              <a:rPr sz="1100" b="0">
                <a:solidFill>
                  <a:srgbClr val="94A3B8"/>
                </a:solidFill>
                <a:latin typeface="Arial"/>
              </a:rPr>
              <a:t>port 5173</a:t>
            </a:r>
          </a:p>
        </p:txBody>
      </p:sp>
      <p:cxnSp>
        <p:nvCxnSpPr>
          <p:cNvPr id="15" name="Connector 14"/>
          <p:cNvCxnSpPr/>
          <p:nvPr/>
        </p:nvCxnSpPr>
        <p:spPr>
          <a:xfrm>
            <a:off x="2377440" y="2514600"/>
            <a:ext cx="502920"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617720" y="2514600"/>
            <a:ext cx="502920"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2514600"/>
            <a:ext cx="502920"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098280" y="2395728"/>
            <a:ext cx="502920"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9098280" y="2633472"/>
            <a:ext cx="502920"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669280" y="3611880"/>
            <a:ext cx="2103120" cy="822960"/>
          </a:xfrm>
          <a:prstGeom prst="roundRect">
            <a:avLst>
              <a:gd name="adj" fmla="val 8000"/>
            </a:avLst>
          </a:prstGeom>
          <a:solidFill>
            <a:srgbClr val="141824"/>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15000" y="3611880"/>
            <a:ext cx="2011679" cy="822960"/>
          </a:xfrm>
          <a:prstGeom prst="rect">
            <a:avLst/>
          </a:prstGeom>
          <a:noFill/>
        </p:spPr>
        <p:txBody>
          <a:bodyPr wrap="square" lIns="36576" rIns="36576" tIns="18288" bIns="18288" anchor="ctr">
            <a:spAutoFit/>
          </a:bodyPr>
          <a:lstStyle/>
          <a:p>
            <a:pPr algn="ctr"/>
            <a:r>
              <a:rPr sz="1500" b="1">
                <a:solidFill>
                  <a:srgbClr val="F1F5F9"/>
                </a:solidFill>
                <a:latin typeface="Arial"/>
              </a:rPr>
              <a:t>Ask AI agent</a:t>
            </a:r>
          </a:p>
          <a:p>
            <a:pPr algn="ctr"/>
            <a:r>
              <a:rPr sz="1100" b="0">
                <a:solidFill>
                  <a:srgbClr val="94A3B8"/>
                </a:solidFill>
                <a:latin typeface="Arial"/>
              </a:rPr>
              <a:t>read-only</a:t>
            </a:r>
          </a:p>
        </p:txBody>
      </p:sp>
      <p:sp>
        <p:nvSpPr>
          <p:cNvPr id="22" name="Rounded Rectangle 21"/>
          <p:cNvSpPr/>
          <p:nvPr/>
        </p:nvSpPr>
        <p:spPr>
          <a:xfrm>
            <a:off x="8229600" y="4023360"/>
            <a:ext cx="2103120" cy="914400"/>
          </a:xfrm>
          <a:prstGeom prst="roundRect">
            <a:avLst>
              <a:gd name="adj" fmla="val 8000"/>
            </a:avLst>
          </a:prstGeom>
          <a:solidFill>
            <a:srgbClr val="141824"/>
          </a:solidFill>
          <a:ln w="1905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75320" y="4023360"/>
            <a:ext cx="2011679" cy="914400"/>
          </a:xfrm>
          <a:prstGeom prst="rect">
            <a:avLst/>
          </a:prstGeom>
          <a:noFill/>
        </p:spPr>
        <p:txBody>
          <a:bodyPr wrap="square" lIns="36576" rIns="36576" tIns="18288" bIns="18288" anchor="ctr">
            <a:spAutoFit/>
          </a:bodyPr>
          <a:lstStyle/>
          <a:p>
            <a:pPr algn="ctr"/>
            <a:r>
              <a:rPr sz="1500" b="1">
                <a:solidFill>
                  <a:srgbClr val="F1F5F9"/>
                </a:solidFill>
                <a:latin typeface="Arial"/>
              </a:rPr>
              <a:t>Fix Bugs agent</a:t>
            </a:r>
          </a:p>
          <a:p>
            <a:pPr algn="ctr"/>
            <a:r>
              <a:rPr sz="1100" b="0">
                <a:solidFill>
                  <a:srgbClr val="94A3B8"/>
                </a:solidFill>
                <a:latin typeface="Arial"/>
              </a:rPr>
              <a:t>gated</a:t>
            </a:r>
          </a:p>
        </p:txBody>
      </p:sp>
      <p:cxnSp>
        <p:nvCxnSpPr>
          <p:cNvPr id="24" name="Connector 23"/>
          <p:cNvCxnSpPr/>
          <p:nvPr/>
        </p:nvCxnSpPr>
        <p:spPr>
          <a:xfrm flipH="1">
            <a:off x="6720840" y="2971800"/>
            <a:ext cx="1143000" cy="64008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595360" y="2971800"/>
            <a:ext cx="685800" cy="105156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40080" y="4023360"/>
            <a:ext cx="2103120" cy="914400"/>
          </a:xfrm>
          <a:prstGeom prst="roundRect">
            <a:avLst>
              <a:gd name="adj" fmla="val 8000"/>
            </a:avLst>
          </a:prstGeom>
          <a:solidFill>
            <a:srgbClr val="141824"/>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85800" y="4023360"/>
            <a:ext cx="2011679" cy="914400"/>
          </a:xfrm>
          <a:prstGeom prst="rect">
            <a:avLst/>
          </a:prstGeom>
          <a:noFill/>
        </p:spPr>
        <p:txBody>
          <a:bodyPr wrap="square" lIns="36576" rIns="36576" tIns="18288" bIns="18288" anchor="ctr">
            <a:spAutoFit/>
          </a:bodyPr>
          <a:lstStyle/>
          <a:p>
            <a:pPr algn="ctr"/>
            <a:r>
              <a:rPr sz="1500" b="1">
                <a:solidFill>
                  <a:srgbClr val="F1F5F9"/>
                </a:solidFill>
                <a:latin typeface="Arial"/>
              </a:rPr>
              <a:t>Repo checkouts</a:t>
            </a:r>
          </a:p>
          <a:p>
            <a:pPr algn="ctr"/>
            <a:r>
              <a:rPr sz="1100" b="0">
                <a:solidFill>
                  <a:srgbClr val="94A3B8"/>
                </a:solidFill>
                <a:latin typeface="Arial"/>
              </a:rPr>
              <a:t>read and edit</a:t>
            </a:r>
          </a:p>
        </p:txBody>
      </p:sp>
      <p:sp>
        <p:nvSpPr>
          <p:cNvPr id="28" name="Rounded Rectangle 27"/>
          <p:cNvSpPr/>
          <p:nvPr/>
        </p:nvSpPr>
        <p:spPr>
          <a:xfrm>
            <a:off x="8229600" y="5486400"/>
            <a:ext cx="1737360" cy="685800"/>
          </a:xfrm>
          <a:prstGeom prst="roundRect">
            <a:avLst>
              <a:gd name="adj" fmla="val 8000"/>
            </a:avLst>
          </a:prstGeom>
          <a:solidFill>
            <a:srgbClr val="141824"/>
          </a:solidFill>
          <a:ln w="1905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275320" y="5486400"/>
            <a:ext cx="1645919" cy="685800"/>
          </a:xfrm>
          <a:prstGeom prst="rect">
            <a:avLst/>
          </a:prstGeom>
          <a:noFill/>
        </p:spPr>
        <p:txBody>
          <a:bodyPr wrap="square" lIns="36576" rIns="36576" tIns="18288" bIns="18288" anchor="ctr">
            <a:spAutoFit/>
          </a:bodyPr>
          <a:lstStyle/>
          <a:p>
            <a:pPr algn="ctr"/>
            <a:r>
              <a:rPr sz="1400" b="1">
                <a:solidFill>
                  <a:srgbClr val="F1F5F9"/>
                </a:solidFill>
                <a:latin typeface="Arial"/>
              </a:rPr>
              <a:t>GitHub</a:t>
            </a:r>
          </a:p>
          <a:p>
            <a:pPr algn="ctr"/>
            <a:r>
              <a:rPr sz="1100" b="0">
                <a:solidFill>
                  <a:srgbClr val="94A3B8"/>
                </a:solidFill>
                <a:latin typeface="Arial"/>
              </a:rPr>
              <a:t>open PR</a:t>
            </a:r>
          </a:p>
        </p:txBody>
      </p:sp>
      <p:sp>
        <p:nvSpPr>
          <p:cNvPr id="30" name="Rounded Rectangle 29"/>
          <p:cNvSpPr/>
          <p:nvPr/>
        </p:nvSpPr>
        <p:spPr>
          <a:xfrm>
            <a:off x="10241280" y="5486400"/>
            <a:ext cx="1280160" cy="685800"/>
          </a:xfrm>
          <a:prstGeom prst="roundRect">
            <a:avLst>
              <a:gd name="adj" fmla="val 8000"/>
            </a:avLst>
          </a:prstGeom>
          <a:solidFill>
            <a:srgbClr val="141824"/>
          </a:solidFill>
          <a:ln w="1905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287000" y="5486400"/>
            <a:ext cx="1188719" cy="685800"/>
          </a:xfrm>
          <a:prstGeom prst="rect">
            <a:avLst/>
          </a:prstGeom>
          <a:noFill/>
        </p:spPr>
        <p:txBody>
          <a:bodyPr wrap="square" lIns="36576" rIns="36576" tIns="18288" bIns="18288" anchor="ctr">
            <a:spAutoFit/>
          </a:bodyPr>
          <a:lstStyle/>
          <a:p>
            <a:pPr algn="ctr"/>
            <a:r>
              <a:rPr sz="1300" b="1">
                <a:solidFill>
                  <a:srgbClr val="F1F5F9"/>
                </a:solidFill>
                <a:latin typeface="Arial"/>
              </a:rPr>
              <a:t>state.json</a:t>
            </a:r>
          </a:p>
        </p:txBody>
      </p:sp>
      <p:cxnSp>
        <p:nvCxnSpPr>
          <p:cNvPr id="32" name="Connector 31"/>
          <p:cNvCxnSpPr/>
          <p:nvPr/>
        </p:nvCxnSpPr>
        <p:spPr>
          <a:xfrm flipH="1">
            <a:off x="2743200" y="4023360"/>
            <a:ext cx="2926080" cy="182880"/>
          </a:xfrm>
          <a:prstGeom prst="line">
            <a:avLst/>
          </a:prstGeom>
          <a:ln w="22225">
            <a:solidFill>
              <a:srgbClr val="8B5CF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2743200" y="4754880"/>
            <a:ext cx="5486400" cy="0"/>
          </a:xfrm>
          <a:prstGeom prst="line">
            <a:avLst/>
          </a:prstGeom>
          <a:ln w="22225">
            <a:solidFill>
              <a:srgbClr val="34D39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098280" y="4937760"/>
            <a:ext cx="0" cy="54864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829800" y="4937760"/>
            <a:ext cx="868680" cy="54864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926080" y="3703320"/>
            <a:ext cx="2651760" cy="274320"/>
          </a:xfrm>
          <a:prstGeom prst="rect">
            <a:avLst/>
          </a:prstGeom>
          <a:noFill/>
        </p:spPr>
        <p:txBody>
          <a:bodyPr wrap="square" lIns="36576" rIns="36576" tIns="18288" bIns="18288" anchor="t">
            <a:spAutoFit/>
          </a:bodyPr>
          <a:lstStyle/>
          <a:p>
            <a:pPr algn="ctr"/>
            <a:r>
              <a:rPr sz="1100" b="0">
                <a:solidFill>
                  <a:srgbClr val="8B5CF6"/>
                </a:solidFill>
                <a:latin typeface="Arial"/>
              </a:rPr>
              <a:t>read only</a:t>
            </a:r>
          </a:p>
        </p:txBody>
      </p:sp>
      <p:sp>
        <p:nvSpPr>
          <p:cNvPr id="37" name="TextBox 36"/>
          <p:cNvSpPr txBox="1"/>
          <p:nvPr/>
        </p:nvSpPr>
        <p:spPr>
          <a:xfrm>
            <a:off x="2926080" y="4846320"/>
            <a:ext cx="5029200" cy="274320"/>
          </a:xfrm>
          <a:prstGeom prst="rect">
            <a:avLst/>
          </a:prstGeom>
          <a:noFill/>
        </p:spPr>
        <p:txBody>
          <a:bodyPr wrap="square" lIns="36576" rIns="36576" tIns="18288" bIns="18288" anchor="t">
            <a:spAutoFit/>
          </a:bodyPr>
          <a:lstStyle/>
          <a:p>
            <a:pPr algn="ctr"/>
            <a:r>
              <a:rPr sz="1100" b="0">
                <a:solidFill>
                  <a:srgbClr val="34D399"/>
                </a:solidFill>
                <a:latin typeface="Arial"/>
              </a:rPr>
              <a:t>edit, test, git</a:t>
            </a:r>
          </a:p>
        </p:txBody>
      </p:sp>
      <p:sp>
        <p:nvSpPr>
          <p:cNvPr id="38" name="TextBox 37"/>
          <p:cNvSpPr txBox="1"/>
          <p:nvPr/>
        </p:nvSpPr>
        <p:spPr>
          <a:xfrm>
            <a:off x="640080" y="5532120"/>
            <a:ext cx="7315200" cy="274320"/>
          </a:xfrm>
          <a:prstGeom prst="rect">
            <a:avLst/>
          </a:prstGeom>
          <a:noFill/>
        </p:spPr>
        <p:txBody>
          <a:bodyPr wrap="square" lIns="36576" rIns="36576" tIns="18288" bIns="18288" anchor="t">
            <a:spAutoFit/>
          </a:bodyPr>
          <a:lstStyle/>
          <a:p>
            <a:pPr algn="l"/>
            <a:r>
              <a:rPr sz="1100" b="1">
                <a:solidFill>
                  <a:srgbClr val="94A3B8"/>
                </a:solidFill>
                <a:latin typeface="Arial"/>
              </a:rPr>
              <a:t>STACK</a:t>
            </a:r>
          </a:p>
        </p:txBody>
      </p:sp>
      <p:sp>
        <p:nvSpPr>
          <p:cNvPr id="39" name="TextBox 38"/>
          <p:cNvSpPr txBox="1"/>
          <p:nvPr/>
        </p:nvSpPr>
        <p:spPr>
          <a:xfrm>
            <a:off x="640080" y="5806440"/>
            <a:ext cx="7315200" cy="640080"/>
          </a:xfrm>
          <a:prstGeom prst="rect">
            <a:avLst/>
          </a:prstGeom>
          <a:noFill/>
        </p:spPr>
        <p:txBody>
          <a:bodyPr wrap="square" lIns="36576" rIns="36576" tIns="18288" bIns="18288" anchor="t">
            <a:spAutoFit/>
          </a:bodyPr>
          <a:lstStyle/>
          <a:p>
            <a:pPr algn="l"/>
            <a:r>
              <a:rPr sz="1200" b="0">
                <a:solidFill>
                  <a:srgbClr val="94A3B8"/>
                </a:solidFill>
                <a:latin typeface="Arial"/>
              </a:rPr>
              <a:t>Python + FastAPI, Neo4j, tree-sitter, React 19 + Vite, @xyflow/react + dagre, Cursor SDK, gh CLI</a:t>
            </a:r>
          </a:p>
        </p:txBody>
      </p:sp>
      <p:sp>
        <p:nvSpPr>
          <p:cNvPr id="40" name="TextBox 39"/>
          <p:cNvSpPr txBox="1"/>
          <p:nvPr/>
        </p:nvSpPr>
        <p:spPr>
          <a:xfrm>
            <a:off x="640080" y="6446520"/>
            <a:ext cx="5486400" cy="274320"/>
          </a:xfrm>
          <a:prstGeom prst="rect">
            <a:avLst/>
          </a:prstGeom>
          <a:noFill/>
        </p:spPr>
        <p:txBody>
          <a:bodyPr wrap="square" lIns="36576" rIns="36576" tIns="18288" bIns="18288" anchor="t">
            <a:spAutoFit/>
          </a:bodyPr>
          <a:lstStyle/>
          <a:p>
            <a:pPr algn="l"/>
            <a:r>
              <a:rPr sz="1000" b="0">
                <a:solidFill>
                  <a:srgbClr val="94A3B8"/>
                </a:solidFill>
                <a:latin typeface="Arial"/>
              </a:rPr>
              <a:t>CodeGraph  |  Hackathon</a:t>
            </a:r>
          </a:p>
        </p:txBody>
      </p:sp>
      <p:sp>
        <p:nvSpPr>
          <p:cNvPr id="41" name="TextBox 40"/>
          <p:cNvSpPr txBox="1"/>
          <p:nvPr/>
        </p:nvSpPr>
        <p:spPr>
          <a:xfrm>
            <a:off x="10820095" y="6446520"/>
            <a:ext cx="731520" cy="274320"/>
          </a:xfrm>
          <a:prstGeom prst="rect">
            <a:avLst/>
          </a:prstGeom>
          <a:noFill/>
        </p:spPr>
        <p:txBody>
          <a:bodyPr wrap="square" lIns="36576" rIns="36576" tIns="18288" bIns="18288" anchor="t">
            <a:spAutoFit/>
          </a:bodyPr>
          <a:lstStyle/>
          <a:p>
            <a:pPr algn="r"/>
            <a:r>
              <a:rPr sz="1000" b="0">
                <a:solidFill>
                  <a:srgbClr val="94A3B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lIns="36576" rIns="36576" tIns="18288" bIns="18288" anchor="t">
            <a:spAutoFit/>
          </a:bodyPr>
          <a:lstStyle/>
          <a:p>
            <a:pPr algn="l"/>
            <a:r>
              <a:rPr sz="1200" b="1">
                <a:solidFill>
                  <a:srgbClr val="22D3EE"/>
                </a:solidFill>
                <a:latin typeface="Arial"/>
              </a:rPr>
              <a:t>GRAPHIFY</a:t>
            </a:r>
          </a:p>
        </p:txBody>
      </p:sp>
      <p:sp>
        <p:nvSpPr>
          <p:cNvPr id="3" name="TextBox 2"/>
          <p:cNvSpPr txBox="1"/>
          <p:nvPr/>
        </p:nvSpPr>
        <p:spPr>
          <a:xfrm>
            <a:off x="640080" y="731520"/>
            <a:ext cx="10881360" cy="822960"/>
          </a:xfrm>
          <a:prstGeom prst="rect">
            <a:avLst/>
          </a:prstGeom>
          <a:noFill/>
        </p:spPr>
        <p:txBody>
          <a:bodyPr wrap="square" lIns="36576" rIns="36576" tIns="18288" bIns="18288" anchor="t">
            <a:spAutoFit/>
          </a:bodyPr>
          <a:lstStyle/>
          <a:p>
            <a:pPr algn="l"/>
            <a:r>
              <a:rPr sz="3200" b="1">
                <a:solidFill>
                  <a:srgbClr val="F1F5F9"/>
                </a:solidFill>
                <a:latin typeface="Arial"/>
              </a:rPr>
              <a:t>A deterministic graph builder: no LLM at build time</a:t>
            </a:r>
          </a:p>
        </p:txBody>
      </p:sp>
      <p:sp>
        <p:nvSpPr>
          <p:cNvPr id="4" name="Rectangle 3"/>
          <p:cNvSpPr/>
          <p:nvPr/>
        </p:nvSpPr>
        <p:spPr>
          <a:xfrm>
            <a:off x="676656" y="1481328"/>
            <a:ext cx="8229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783080"/>
            <a:ext cx="3657600" cy="274320"/>
          </a:xfrm>
          <a:prstGeom prst="rect">
            <a:avLst/>
          </a:prstGeom>
          <a:noFill/>
        </p:spPr>
        <p:txBody>
          <a:bodyPr wrap="square" lIns="36576" rIns="36576" tIns="18288" bIns="18288" anchor="t">
            <a:spAutoFit/>
          </a:bodyPr>
          <a:lstStyle/>
          <a:p>
            <a:pPr algn="l"/>
            <a:r>
              <a:rPr sz="1100" b="1">
                <a:solidFill>
                  <a:srgbClr val="94A3B8"/>
                </a:solidFill>
                <a:latin typeface="Arial"/>
              </a:rPr>
              <a:t>PER REPO</a:t>
            </a:r>
          </a:p>
        </p:txBody>
      </p:sp>
      <p:sp>
        <p:nvSpPr>
          <p:cNvPr id="6" name="Rounded Rectangle 5"/>
          <p:cNvSpPr/>
          <p:nvPr/>
        </p:nvSpPr>
        <p:spPr>
          <a:xfrm>
            <a:off x="640080" y="2103120"/>
            <a:ext cx="2560320" cy="1143000"/>
          </a:xfrm>
          <a:prstGeom prst="roundRect">
            <a:avLst>
              <a:gd name="adj" fmla="val 8000"/>
            </a:avLst>
          </a:prstGeom>
          <a:solidFill>
            <a:srgbClr val="141824"/>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148840"/>
            <a:ext cx="457200" cy="365760"/>
          </a:xfrm>
          <a:prstGeom prst="rect">
            <a:avLst/>
          </a:prstGeom>
          <a:noFill/>
        </p:spPr>
        <p:txBody>
          <a:bodyPr wrap="square" lIns="36576" rIns="36576" tIns="18288" bIns="18288" anchor="t">
            <a:spAutoFit/>
          </a:bodyPr>
          <a:lstStyle/>
          <a:p>
            <a:pPr algn="l"/>
            <a:r>
              <a:rPr sz="2000" b="1">
                <a:solidFill>
                  <a:srgbClr val="22D3EE"/>
                </a:solidFill>
                <a:latin typeface="Arial"/>
              </a:rPr>
              <a:t>1</a:t>
            </a:r>
          </a:p>
        </p:txBody>
      </p:sp>
      <p:sp>
        <p:nvSpPr>
          <p:cNvPr id="8" name="TextBox 7"/>
          <p:cNvSpPr txBox="1"/>
          <p:nvPr/>
        </p:nvSpPr>
        <p:spPr>
          <a:xfrm>
            <a:off x="1188719" y="2194560"/>
            <a:ext cx="1920240" cy="320040"/>
          </a:xfrm>
          <a:prstGeom prst="rect">
            <a:avLst/>
          </a:prstGeom>
          <a:noFill/>
        </p:spPr>
        <p:txBody>
          <a:bodyPr wrap="square" lIns="36576" rIns="36576" tIns="18288" bIns="18288" anchor="t">
            <a:spAutoFit/>
          </a:bodyPr>
          <a:lstStyle/>
          <a:p>
            <a:pPr algn="l"/>
            <a:r>
              <a:rPr sz="1400" b="1">
                <a:solidFill>
                  <a:srgbClr val="F1F5F9"/>
                </a:solidFill>
                <a:latin typeface="Arial"/>
              </a:rPr>
              <a:t>Collect files</a:t>
            </a:r>
          </a:p>
        </p:txBody>
      </p:sp>
      <p:sp>
        <p:nvSpPr>
          <p:cNvPr id="9" name="TextBox 8"/>
          <p:cNvSpPr txBox="1"/>
          <p:nvPr/>
        </p:nvSpPr>
        <p:spPr>
          <a:xfrm>
            <a:off x="822959" y="2606040"/>
            <a:ext cx="2240280" cy="640080"/>
          </a:xfrm>
          <a:prstGeom prst="rect">
            <a:avLst/>
          </a:prstGeom>
          <a:noFill/>
        </p:spPr>
        <p:txBody>
          <a:bodyPr wrap="square" lIns="36576" rIns="36576" tIns="18288" bIns="18288" anchor="t">
            <a:spAutoFit/>
          </a:bodyPr>
          <a:lstStyle/>
          <a:p>
            <a:pPr algn="l"/>
            <a:r>
              <a:rPr sz="1100" b="0">
                <a:solidFill>
                  <a:srgbClr val="94A3B8"/>
                </a:solidFill>
                <a:latin typeface="Arial"/>
              </a:rPr>
              <a:t>skip node_modules, dist, build…</a:t>
            </a:r>
          </a:p>
        </p:txBody>
      </p:sp>
      <p:cxnSp>
        <p:nvCxnSpPr>
          <p:cNvPr id="10" name="Connector 9"/>
          <p:cNvCxnSpPr/>
          <p:nvPr/>
        </p:nvCxnSpPr>
        <p:spPr>
          <a:xfrm>
            <a:off x="3200400" y="2670048"/>
            <a:ext cx="228600"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429000" y="2103120"/>
            <a:ext cx="2560320" cy="1143000"/>
          </a:xfrm>
          <a:prstGeom prst="roundRect">
            <a:avLst>
              <a:gd name="adj" fmla="val 8000"/>
            </a:avLst>
          </a:prstGeom>
          <a:solidFill>
            <a:srgbClr val="141824"/>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566160" y="2148840"/>
            <a:ext cx="457200" cy="365760"/>
          </a:xfrm>
          <a:prstGeom prst="rect">
            <a:avLst/>
          </a:prstGeom>
          <a:noFill/>
        </p:spPr>
        <p:txBody>
          <a:bodyPr wrap="square" lIns="36576" rIns="36576" tIns="18288" bIns="18288" anchor="t">
            <a:spAutoFit/>
          </a:bodyPr>
          <a:lstStyle/>
          <a:p>
            <a:pPr algn="l"/>
            <a:r>
              <a:rPr sz="2000" b="1">
                <a:solidFill>
                  <a:srgbClr val="22D3EE"/>
                </a:solidFill>
                <a:latin typeface="Arial"/>
              </a:rPr>
              <a:t>2</a:t>
            </a:r>
          </a:p>
        </p:txBody>
      </p:sp>
      <p:sp>
        <p:nvSpPr>
          <p:cNvPr id="13" name="TextBox 12"/>
          <p:cNvSpPr txBox="1"/>
          <p:nvPr/>
        </p:nvSpPr>
        <p:spPr>
          <a:xfrm>
            <a:off x="3977639" y="2194560"/>
            <a:ext cx="1920240" cy="320040"/>
          </a:xfrm>
          <a:prstGeom prst="rect">
            <a:avLst/>
          </a:prstGeom>
          <a:noFill/>
        </p:spPr>
        <p:txBody>
          <a:bodyPr wrap="square" lIns="36576" rIns="36576" tIns="18288" bIns="18288" anchor="t">
            <a:spAutoFit/>
          </a:bodyPr>
          <a:lstStyle/>
          <a:p>
            <a:pPr algn="l"/>
            <a:r>
              <a:rPr sz="1400" b="1">
                <a:solidFill>
                  <a:srgbClr val="F1F5F9"/>
                </a:solidFill>
                <a:latin typeface="Arial"/>
              </a:rPr>
              <a:t>Base AST</a:t>
            </a:r>
          </a:p>
        </p:txBody>
      </p:sp>
      <p:sp>
        <p:nvSpPr>
          <p:cNvPr id="14" name="TextBox 13"/>
          <p:cNvSpPr txBox="1"/>
          <p:nvPr/>
        </p:nvSpPr>
        <p:spPr>
          <a:xfrm>
            <a:off x="3611880" y="2606040"/>
            <a:ext cx="2240280" cy="640080"/>
          </a:xfrm>
          <a:prstGeom prst="rect">
            <a:avLst/>
          </a:prstGeom>
          <a:noFill/>
        </p:spPr>
        <p:txBody>
          <a:bodyPr wrap="square" lIns="36576" rIns="36576" tIns="18288" bIns="18288" anchor="t">
            <a:spAutoFit/>
          </a:bodyPr>
          <a:lstStyle/>
          <a:p>
            <a:pPr algn="l"/>
            <a:r>
              <a:rPr sz="1100" b="0">
                <a:solidFill>
                  <a:srgbClr val="94A3B8"/>
                </a:solidFill>
                <a:latin typeface="Arial"/>
              </a:rPr>
              <a:t>tree-sitter: functions, classes, calls</a:t>
            </a:r>
          </a:p>
        </p:txBody>
      </p:sp>
      <p:cxnSp>
        <p:nvCxnSpPr>
          <p:cNvPr id="15" name="Connector 14"/>
          <p:cNvCxnSpPr/>
          <p:nvPr/>
        </p:nvCxnSpPr>
        <p:spPr>
          <a:xfrm>
            <a:off x="5989320" y="2670048"/>
            <a:ext cx="228600"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217920" y="2103120"/>
            <a:ext cx="2560320" cy="1143000"/>
          </a:xfrm>
          <a:prstGeom prst="roundRect">
            <a:avLst>
              <a:gd name="adj" fmla="val 8000"/>
            </a:avLst>
          </a:prstGeom>
          <a:solidFill>
            <a:srgbClr val="141824"/>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2148840"/>
            <a:ext cx="457200" cy="365760"/>
          </a:xfrm>
          <a:prstGeom prst="rect">
            <a:avLst/>
          </a:prstGeom>
          <a:noFill/>
        </p:spPr>
        <p:txBody>
          <a:bodyPr wrap="square" lIns="36576" rIns="36576" tIns="18288" bIns="18288" anchor="t">
            <a:spAutoFit/>
          </a:bodyPr>
          <a:lstStyle/>
          <a:p>
            <a:pPr algn="l"/>
            <a:r>
              <a:rPr sz="2000" b="1">
                <a:solidFill>
                  <a:srgbClr val="22D3EE"/>
                </a:solidFill>
                <a:latin typeface="Arial"/>
              </a:rPr>
              <a:t>3</a:t>
            </a:r>
          </a:p>
        </p:txBody>
      </p:sp>
      <p:sp>
        <p:nvSpPr>
          <p:cNvPr id="18" name="TextBox 17"/>
          <p:cNvSpPr txBox="1"/>
          <p:nvPr/>
        </p:nvSpPr>
        <p:spPr>
          <a:xfrm>
            <a:off x="6766559" y="2194560"/>
            <a:ext cx="1920240" cy="320040"/>
          </a:xfrm>
          <a:prstGeom prst="rect">
            <a:avLst/>
          </a:prstGeom>
          <a:noFill/>
        </p:spPr>
        <p:txBody>
          <a:bodyPr wrap="square" lIns="36576" rIns="36576" tIns="18288" bIns="18288" anchor="t">
            <a:spAutoFit/>
          </a:bodyPr>
          <a:lstStyle/>
          <a:p>
            <a:pPr algn="l"/>
            <a:r>
              <a:rPr sz="1400" b="1">
                <a:solidFill>
                  <a:srgbClr val="F1F5F9"/>
                </a:solidFill>
                <a:latin typeface="Arial"/>
              </a:rPr>
              <a:t>Framework rules</a:t>
            </a:r>
          </a:p>
        </p:txBody>
      </p:sp>
      <p:sp>
        <p:nvSpPr>
          <p:cNvPr id="19" name="TextBox 18"/>
          <p:cNvSpPr txBox="1"/>
          <p:nvPr/>
        </p:nvSpPr>
        <p:spPr>
          <a:xfrm>
            <a:off x="6400800" y="2606040"/>
            <a:ext cx="2240280" cy="640080"/>
          </a:xfrm>
          <a:prstGeom prst="rect">
            <a:avLst/>
          </a:prstGeom>
          <a:noFill/>
        </p:spPr>
        <p:txBody>
          <a:bodyPr wrap="square" lIns="36576" rIns="36576" tIns="18288" bIns="18288" anchor="t">
            <a:spAutoFit/>
          </a:bodyPr>
          <a:lstStyle/>
          <a:p>
            <a:pPr algn="l"/>
            <a:r>
              <a:rPr sz="1100" b="0">
                <a:solidFill>
                  <a:srgbClr val="94A3B8"/>
                </a:solidFill>
                <a:latin typeface="Arial"/>
              </a:rPr>
              <a:t>Fastify, React, Next.js, Spring, SQL</a:t>
            </a:r>
          </a:p>
        </p:txBody>
      </p:sp>
      <p:cxnSp>
        <p:nvCxnSpPr>
          <p:cNvPr id="20" name="Connector 19"/>
          <p:cNvCxnSpPr/>
          <p:nvPr/>
        </p:nvCxnSpPr>
        <p:spPr>
          <a:xfrm>
            <a:off x="8778240" y="2670048"/>
            <a:ext cx="228600"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006839" y="2103120"/>
            <a:ext cx="2560320" cy="1143000"/>
          </a:xfrm>
          <a:prstGeom prst="roundRect">
            <a:avLst>
              <a:gd name="adj" fmla="val 8000"/>
            </a:avLst>
          </a:prstGeom>
          <a:solidFill>
            <a:srgbClr val="141824"/>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43999" y="2148840"/>
            <a:ext cx="457200" cy="365760"/>
          </a:xfrm>
          <a:prstGeom prst="rect">
            <a:avLst/>
          </a:prstGeom>
          <a:noFill/>
        </p:spPr>
        <p:txBody>
          <a:bodyPr wrap="square" lIns="36576" rIns="36576" tIns="18288" bIns="18288" anchor="t">
            <a:spAutoFit/>
          </a:bodyPr>
          <a:lstStyle/>
          <a:p>
            <a:pPr algn="l"/>
            <a:r>
              <a:rPr sz="2000" b="1">
                <a:solidFill>
                  <a:srgbClr val="22D3EE"/>
                </a:solidFill>
                <a:latin typeface="Arial"/>
              </a:rPr>
              <a:t>4</a:t>
            </a:r>
          </a:p>
        </p:txBody>
      </p:sp>
      <p:sp>
        <p:nvSpPr>
          <p:cNvPr id="23" name="TextBox 22"/>
          <p:cNvSpPr txBox="1"/>
          <p:nvPr/>
        </p:nvSpPr>
        <p:spPr>
          <a:xfrm>
            <a:off x="9555479" y="2194560"/>
            <a:ext cx="1920240" cy="320040"/>
          </a:xfrm>
          <a:prstGeom prst="rect">
            <a:avLst/>
          </a:prstGeom>
          <a:noFill/>
        </p:spPr>
        <p:txBody>
          <a:bodyPr wrap="square" lIns="36576" rIns="36576" tIns="18288" bIns="18288" anchor="t">
            <a:spAutoFit/>
          </a:bodyPr>
          <a:lstStyle/>
          <a:p>
            <a:pPr algn="l"/>
            <a:r>
              <a:rPr sz="1400" b="1">
                <a:solidFill>
                  <a:srgbClr val="F1F5F9"/>
                </a:solidFill>
                <a:latin typeface="Arial"/>
              </a:rPr>
              <a:t>Tag with repo</a:t>
            </a:r>
          </a:p>
        </p:txBody>
      </p:sp>
      <p:sp>
        <p:nvSpPr>
          <p:cNvPr id="24" name="TextBox 23"/>
          <p:cNvSpPr txBox="1"/>
          <p:nvPr/>
        </p:nvSpPr>
        <p:spPr>
          <a:xfrm>
            <a:off x="9189719" y="2606040"/>
            <a:ext cx="2240280" cy="640080"/>
          </a:xfrm>
          <a:prstGeom prst="rect">
            <a:avLst/>
          </a:prstGeom>
          <a:noFill/>
        </p:spPr>
        <p:txBody>
          <a:bodyPr wrap="square" lIns="36576" rIns="36576" tIns="18288" bIns="18288" anchor="t">
            <a:spAutoFit/>
          </a:bodyPr>
          <a:lstStyle/>
          <a:p>
            <a:pPr algn="l"/>
            <a:r>
              <a:rPr sz="1100" b="0">
                <a:solidFill>
                  <a:srgbClr val="94A3B8"/>
                </a:solidFill>
                <a:latin typeface="Arial"/>
              </a:rPr>
              <a:t>ids prefixed &lt;repo&gt;::</a:t>
            </a:r>
          </a:p>
        </p:txBody>
      </p:sp>
      <p:sp>
        <p:nvSpPr>
          <p:cNvPr id="25" name="TextBox 24"/>
          <p:cNvSpPr txBox="1"/>
          <p:nvPr/>
        </p:nvSpPr>
        <p:spPr>
          <a:xfrm>
            <a:off x="640080" y="3474720"/>
            <a:ext cx="3657600" cy="274320"/>
          </a:xfrm>
          <a:prstGeom prst="rect">
            <a:avLst/>
          </a:prstGeom>
          <a:noFill/>
        </p:spPr>
        <p:txBody>
          <a:bodyPr wrap="square" lIns="36576" rIns="36576" tIns="18288" bIns="18288" anchor="t">
            <a:spAutoFit/>
          </a:bodyPr>
          <a:lstStyle/>
          <a:p>
            <a:pPr algn="l"/>
            <a:r>
              <a:rPr sz="1100" b="1">
                <a:solidFill>
                  <a:srgbClr val="94A3B8"/>
                </a:solidFill>
                <a:latin typeface="Arial"/>
              </a:rPr>
              <a:t>ALL REPOS TOGETHER</a:t>
            </a:r>
          </a:p>
        </p:txBody>
      </p:sp>
      <p:sp>
        <p:nvSpPr>
          <p:cNvPr id="26" name="Rounded Rectangle 25"/>
          <p:cNvSpPr/>
          <p:nvPr/>
        </p:nvSpPr>
        <p:spPr>
          <a:xfrm>
            <a:off x="640080" y="3794760"/>
            <a:ext cx="2560320" cy="1143000"/>
          </a:xfrm>
          <a:prstGeom prst="roundRect">
            <a:avLst>
              <a:gd name="adj" fmla="val 8000"/>
            </a:avLst>
          </a:prstGeom>
          <a:solidFill>
            <a:srgbClr val="141824"/>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3840480"/>
            <a:ext cx="457200" cy="365760"/>
          </a:xfrm>
          <a:prstGeom prst="rect">
            <a:avLst/>
          </a:prstGeom>
          <a:noFill/>
        </p:spPr>
        <p:txBody>
          <a:bodyPr wrap="square" lIns="36576" rIns="36576" tIns="18288" bIns="18288" anchor="t">
            <a:spAutoFit/>
          </a:bodyPr>
          <a:lstStyle/>
          <a:p>
            <a:pPr algn="l"/>
            <a:r>
              <a:rPr sz="2000" b="1">
                <a:solidFill>
                  <a:srgbClr val="8B5CF6"/>
                </a:solidFill>
                <a:latin typeface="Arial"/>
              </a:rPr>
              <a:t>5</a:t>
            </a:r>
          </a:p>
        </p:txBody>
      </p:sp>
      <p:sp>
        <p:nvSpPr>
          <p:cNvPr id="28" name="TextBox 27"/>
          <p:cNvSpPr txBox="1"/>
          <p:nvPr/>
        </p:nvSpPr>
        <p:spPr>
          <a:xfrm>
            <a:off x="1188719" y="3886200"/>
            <a:ext cx="1920240" cy="320040"/>
          </a:xfrm>
          <a:prstGeom prst="rect">
            <a:avLst/>
          </a:prstGeom>
          <a:noFill/>
        </p:spPr>
        <p:txBody>
          <a:bodyPr wrap="square" lIns="36576" rIns="36576" tIns="18288" bIns="18288" anchor="t">
            <a:spAutoFit/>
          </a:bodyPr>
          <a:lstStyle/>
          <a:p>
            <a:pPr algn="l"/>
            <a:r>
              <a:rPr sz="1400" b="1">
                <a:solidFill>
                  <a:srgbClr val="F1F5F9"/>
                </a:solidFill>
                <a:latin typeface="Arial"/>
              </a:rPr>
              <a:t>Package graph</a:t>
            </a:r>
          </a:p>
        </p:txBody>
      </p:sp>
      <p:sp>
        <p:nvSpPr>
          <p:cNvPr id="29" name="TextBox 28"/>
          <p:cNvSpPr txBox="1"/>
          <p:nvPr/>
        </p:nvSpPr>
        <p:spPr>
          <a:xfrm>
            <a:off x="822959" y="4297680"/>
            <a:ext cx="2240280" cy="640080"/>
          </a:xfrm>
          <a:prstGeom prst="rect">
            <a:avLst/>
          </a:prstGeom>
          <a:noFill/>
        </p:spPr>
        <p:txBody>
          <a:bodyPr wrap="square" lIns="36576" rIns="36576" tIns="18288" bIns="18288" anchor="t">
            <a:spAutoFit/>
          </a:bodyPr>
          <a:lstStyle/>
          <a:p>
            <a:pPr algn="l"/>
            <a:r>
              <a:rPr sz="1100" b="0">
                <a:solidFill>
                  <a:srgbClr val="94A3B8"/>
                </a:solidFill>
                <a:latin typeface="Arial"/>
              </a:rPr>
              <a:t>package.json to package nodes</a:t>
            </a:r>
          </a:p>
        </p:txBody>
      </p:sp>
      <p:cxnSp>
        <p:nvCxnSpPr>
          <p:cNvPr id="30" name="Connector 29"/>
          <p:cNvCxnSpPr/>
          <p:nvPr/>
        </p:nvCxnSpPr>
        <p:spPr>
          <a:xfrm>
            <a:off x="3200400" y="4361688"/>
            <a:ext cx="228600"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3429000" y="3794760"/>
            <a:ext cx="2560320" cy="1143000"/>
          </a:xfrm>
          <a:prstGeom prst="roundRect">
            <a:avLst>
              <a:gd name="adj" fmla="val 8000"/>
            </a:avLst>
          </a:prstGeom>
          <a:solidFill>
            <a:srgbClr val="141824"/>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66160" y="3840480"/>
            <a:ext cx="457200" cy="365760"/>
          </a:xfrm>
          <a:prstGeom prst="rect">
            <a:avLst/>
          </a:prstGeom>
          <a:noFill/>
        </p:spPr>
        <p:txBody>
          <a:bodyPr wrap="square" lIns="36576" rIns="36576" tIns="18288" bIns="18288" anchor="t">
            <a:spAutoFit/>
          </a:bodyPr>
          <a:lstStyle/>
          <a:p>
            <a:pPr algn="l"/>
            <a:r>
              <a:rPr sz="2000" b="1">
                <a:solidFill>
                  <a:srgbClr val="8B5CF6"/>
                </a:solidFill>
                <a:latin typeface="Arial"/>
              </a:rPr>
              <a:t>6</a:t>
            </a:r>
          </a:p>
        </p:txBody>
      </p:sp>
      <p:sp>
        <p:nvSpPr>
          <p:cNvPr id="33" name="TextBox 32"/>
          <p:cNvSpPr txBox="1"/>
          <p:nvPr/>
        </p:nvSpPr>
        <p:spPr>
          <a:xfrm>
            <a:off x="3977639" y="3886200"/>
            <a:ext cx="1920240" cy="320040"/>
          </a:xfrm>
          <a:prstGeom prst="rect">
            <a:avLst/>
          </a:prstGeom>
          <a:noFill/>
        </p:spPr>
        <p:txBody>
          <a:bodyPr wrap="square" lIns="36576" rIns="36576" tIns="18288" bIns="18288" anchor="t">
            <a:spAutoFit/>
          </a:bodyPr>
          <a:lstStyle/>
          <a:p>
            <a:pPr algn="l"/>
            <a:r>
              <a:rPr sz="1400" b="1">
                <a:solidFill>
                  <a:srgbClr val="F1F5F9"/>
                </a:solidFill>
                <a:latin typeface="Arial"/>
              </a:rPr>
              <a:t>Link pass</a:t>
            </a:r>
          </a:p>
        </p:txBody>
      </p:sp>
      <p:sp>
        <p:nvSpPr>
          <p:cNvPr id="34" name="TextBox 33"/>
          <p:cNvSpPr txBox="1"/>
          <p:nvPr/>
        </p:nvSpPr>
        <p:spPr>
          <a:xfrm>
            <a:off x="3611880" y="4297680"/>
            <a:ext cx="2240280" cy="640080"/>
          </a:xfrm>
          <a:prstGeom prst="rect">
            <a:avLst/>
          </a:prstGeom>
          <a:noFill/>
        </p:spPr>
        <p:txBody>
          <a:bodyPr wrap="square" lIns="36576" rIns="36576" tIns="18288" bIns="18288" anchor="t">
            <a:spAutoFit/>
          </a:bodyPr>
          <a:lstStyle/>
          <a:p>
            <a:pPr algn="l"/>
            <a:r>
              <a:rPr sz="1100" b="0">
                <a:solidFill>
                  <a:srgbClr val="94A3B8"/>
                </a:solidFill>
                <a:latin typeface="Arial"/>
              </a:rPr>
              <a:t>resolve edges across repos</a:t>
            </a:r>
          </a:p>
        </p:txBody>
      </p:sp>
      <p:cxnSp>
        <p:nvCxnSpPr>
          <p:cNvPr id="35" name="Connector 34"/>
          <p:cNvCxnSpPr/>
          <p:nvPr/>
        </p:nvCxnSpPr>
        <p:spPr>
          <a:xfrm>
            <a:off x="5989320" y="4361688"/>
            <a:ext cx="228600"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217920" y="3794760"/>
            <a:ext cx="2560320" cy="1143000"/>
          </a:xfrm>
          <a:prstGeom prst="roundRect">
            <a:avLst>
              <a:gd name="adj" fmla="val 8000"/>
            </a:avLst>
          </a:prstGeom>
          <a:solidFill>
            <a:srgbClr val="141824"/>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355080" y="3840480"/>
            <a:ext cx="457200" cy="365760"/>
          </a:xfrm>
          <a:prstGeom prst="rect">
            <a:avLst/>
          </a:prstGeom>
          <a:noFill/>
        </p:spPr>
        <p:txBody>
          <a:bodyPr wrap="square" lIns="36576" rIns="36576" tIns="18288" bIns="18288" anchor="t">
            <a:spAutoFit/>
          </a:bodyPr>
          <a:lstStyle/>
          <a:p>
            <a:pPr algn="l"/>
            <a:r>
              <a:rPr sz="2000" b="1">
                <a:solidFill>
                  <a:srgbClr val="8B5CF6"/>
                </a:solidFill>
                <a:latin typeface="Arial"/>
              </a:rPr>
              <a:t>7</a:t>
            </a:r>
          </a:p>
        </p:txBody>
      </p:sp>
      <p:sp>
        <p:nvSpPr>
          <p:cNvPr id="38" name="TextBox 37"/>
          <p:cNvSpPr txBox="1"/>
          <p:nvPr/>
        </p:nvSpPr>
        <p:spPr>
          <a:xfrm>
            <a:off x="6766559" y="3886200"/>
            <a:ext cx="1920240" cy="320040"/>
          </a:xfrm>
          <a:prstGeom prst="rect">
            <a:avLst/>
          </a:prstGeom>
          <a:noFill/>
        </p:spPr>
        <p:txBody>
          <a:bodyPr wrap="square" lIns="36576" rIns="36576" tIns="18288" bIns="18288" anchor="t">
            <a:spAutoFit/>
          </a:bodyPr>
          <a:lstStyle/>
          <a:p>
            <a:pPr algn="l"/>
            <a:r>
              <a:rPr sz="1400" b="1">
                <a:solidFill>
                  <a:srgbClr val="F1F5F9"/>
                </a:solidFill>
                <a:latin typeface="Arial"/>
              </a:rPr>
              <a:t>Dedupe, push</a:t>
            </a:r>
          </a:p>
        </p:txBody>
      </p:sp>
      <p:sp>
        <p:nvSpPr>
          <p:cNvPr id="39" name="TextBox 38"/>
          <p:cNvSpPr txBox="1"/>
          <p:nvPr/>
        </p:nvSpPr>
        <p:spPr>
          <a:xfrm>
            <a:off x="6400800" y="4297680"/>
            <a:ext cx="2240280" cy="640080"/>
          </a:xfrm>
          <a:prstGeom prst="rect">
            <a:avLst/>
          </a:prstGeom>
          <a:noFill/>
        </p:spPr>
        <p:txBody>
          <a:bodyPr wrap="square" lIns="36576" rIns="36576" tIns="18288" bIns="18288" anchor="t">
            <a:spAutoFit/>
          </a:bodyPr>
          <a:lstStyle/>
          <a:p>
            <a:pPr algn="l"/>
            <a:r>
              <a:rPr sz="1100" b="0">
                <a:solidFill>
                  <a:srgbClr val="94A3B8"/>
                </a:solidFill>
                <a:latin typeface="Arial"/>
              </a:rPr>
              <a:t>validate, MERGE into Neo4j</a:t>
            </a:r>
          </a:p>
        </p:txBody>
      </p:sp>
      <p:sp>
        <p:nvSpPr>
          <p:cNvPr id="40" name="Rounded Rectangle 39"/>
          <p:cNvSpPr/>
          <p:nvPr/>
        </p:nvSpPr>
        <p:spPr>
          <a:xfrm>
            <a:off x="9098280" y="3520440"/>
            <a:ext cx="2423160" cy="1417320"/>
          </a:xfrm>
          <a:prstGeom prst="roundRect">
            <a:avLst>
              <a:gd name="adj" fmla="val 8000"/>
            </a:avLst>
          </a:prstGeom>
          <a:solidFill>
            <a:srgbClr val="141824"/>
          </a:solidFill>
          <a:ln w="12700">
            <a:solidFill>
              <a:srgbClr val="2A314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235440" y="3566160"/>
            <a:ext cx="2194560" cy="274320"/>
          </a:xfrm>
          <a:prstGeom prst="rect">
            <a:avLst/>
          </a:prstGeom>
          <a:noFill/>
        </p:spPr>
        <p:txBody>
          <a:bodyPr wrap="square" lIns="36576" rIns="36576" tIns="18288" bIns="18288" anchor="t">
            <a:spAutoFit/>
          </a:bodyPr>
          <a:lstStyle/>
          <a:p>
            <a:pPr algn="l"/>
            <a:r>
              <a:rPr sz="1000" b="1">
                <a:solidFill>
                  <a:srgbClr val="94A3B8"/>
                </a:solidFill>
                <a:latin typeface="Arial"/>
              </a:rPr>
              <a:t>CURRENT GRAPH</a:t>
            </a:r>
          </a:p>
        </p:txBody>
      </p:sp>
      <p:sp>
        <p:nvSpPr>
          <p:cNvPr id="42" name="TextBox 41"/>
          <p:cNvSpPr txBox="1"/>
          <p:nvPr/>
        </p:nvSpPr>
        <p:spPr>
          <a:xfrm>
            <a:off x="9235440" y="3840480"/>
            <a:ext cx="2194560" cy="548640"/>
          </a:xfrm>
          <a:prstGeom prst="rect">
            <a:avLst/>
          </a:prstGeom>
          <a:noFill/>
        </p:spPr>
        <p:txBody>
          <a:bodyPr wrap="square" lIns="36576" rIns="36576" tIns="18288" bIns="18288" anchor="t">
            <a:spAutoFit/>
          </a:bodyPr>
          <a:lstStyle/>
          <a:p>
            <a:pPr algn="l"/>
            <a:r>
              <a:rPr sz="2200" b="1">
                <a:solidFill>
                  <a:srgbClr val="22D3EE"/>
                </a:solidFill>
                <a:latin typeface="Arial"/>
              </a:rPr>
              <a:t>13.2k nodes</a:t>
            </a:r>
          </a:p>
        </p:txBody>
      </p:sp>
      <p:sp>
        <p:nvSpPr>
          <p:cNvPr id="43" name="TextBox 42"/>
          <p:cNvSpPr txBox="1"/>
          <p:nvPr/>
        </p:nvSpPr>
        <p:spPr>
          <a:xfrm>
            <a:off x="9235440" y="4343400"/>
            <a:ext cx="2194560" cy="548640"/>
          </a:xfrm>
          <a:prstGeom prst="rect">
            <a:avLst/>
          </a:prstGeom>
          <a:noFill/>
        </p:spPr>
        <p:txBody>
          <a:bodyPr wrap="square" lIns="36576" rIns="36576" tIns="18288" bIns="18288" anchor="t">
            <a:spAutoFit/>
          </a:bodyPr>
          <a:lstStyle/>
          <a:p>
            <a:pPr algn="l"/>
            <a:r>
              <a:rPr sz="2200" b="1">
                <a:solidFill>
                  <a:srgbClr val="8B5CF6"/>
                </a:solidFill>
                <a:latin typeface="Arial"/>
              </a:rPr>
              <a:t>35.9k edges</a:t>
            </a:r>
          </a:p>
        </p:txBody>
      </p:sp>
      <p:sp>
        <p:nvSpPr>
          <p:cNvPr id="44" name="Rounded Rectangle 43"/>
          <p:cNvSpPr/>
          <p:nvPr/>
        </p:nvSpPr>
        <p:spPr>
          <a:xfrm>
            <a:off x="640080" y="5257800"/>
            <a:ext cx="10881360" cy="914400"/>
          </a:xfrm>
          <a:prstGeom prst="roundRect">
            <a:avLst>
              <a:gd name="adj" fmla="val 8000"/>
            </a:avLst>
          </a:prstGeom>
          <a:solidFill>
            <a:srgbClr val="141824"/>
          </a:solidFill>
          <a:ln w="12700">
            <a:solidFill>
              <a:srgbClr val="2A314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868680" y="5303520"/>
            <a:ext cx="10424160" cy="274320"/>
          </a:xfrm>
          <a:prstGeom prst="rect">
            <a:avLst/>
          </a:prstGeom>
          <a:noFill/>
        </p:spPr>
        <p:txBody>
          <a:bodyPr wrap="square" lIns="36576" rIns="36576" tIns="18288" bIns="18288" anchor="t">
            <a:spAutoFit/>
          </a:bodyPr>
          <a:lstStyle/>
          <a:p>
            <a:pPr algn="l"/>
            <a:r>
              <a:rPr sz="1100" b="1">
                <a:solidFill>
                  <a:srgbClr val="94A3B8"/>
                </a:solidFill>
                <a:latin typeface="Arial"/>
              </a:rPr>
              <a:t>WHY DETERMINISTIC</a:t>
            </a:r>
          </a:p>
        </p:txBody>
      </p:sp>
      <p:sp>
        <p:nvSpPr>
          <p:cNvPr id="46" name="TextBox 45"/>
          <p:cNvSpPr txBox="1"/>
          <p:nvPr/>
        </p:nvSpPr>
        <p:spPr>
          <a:xfrm>
            <a:off x="868680" y="5577840"/>
            <a:ext cx="10424160" cy="548640"/>
          </a:xfrm>
          <a:prstGeom prst="rect">
            <a:avLst/>
          </a:prstGeom>
          <a:noFill/>
        </p:spPr>
        <p:txBody>
          <a:bodyPr wrap="square" lIns="36576" rIns="36576" tIns="18288" bIns="18288" anchor="t">
            <a:spAutoFit/>
          </a:bodyPr>
          <a:lstStyle/>
          <a:p>
            <a:pPr algn="l"/>
            <a:r>
              <a:rPr sz="1400" b="0">
                <a:solidFill>
                  <a:srgbClr val="F1F5F9"/>
                </a:solidFill>
                <a:latin typeface="Arial"/>
              </a:rPr>
              <a:t>The same code always produces the same graph. LLMs only read the graph (Ask AI, Fix Bugs). They never create it. Rebuilds are idempotent per repo.</a:t>
            </a:r>
          </a:p>
        </p:txBody>
      </p:sp>
      <p:sp>
        <p:nvSpPr>
          <p:cNvPr id="47" name="TextBox 46"/>
          <p:cNvSpPr txBox="1"/>
          <p:nvPr/>
        </p:nvSpPr>
        <p:spPr>
          <a:xfrm>
            <a:off x="640080" y="6446520"/>
            <a:ext cx="5486400" cy="274320"/>
          </a:xfrm>
          <a:prstGeom prst="rect">
            <a:avLst/>
          </a:prstGeom>
          <a:noFill/>
        </p:spPr>
        <p:txBody>
          <a:bodyPr wrap="square" lIns="36576" rIns="36576" tIns="18288" bIns="18288" anchor="t">
            <a:spAutoFit/>
          </a:bodyPr>
          <a:lstStyle/>
          <a:p>
            <a:pPr algn="l"/>
            <a:r>
              <a:rPr sz="1000" b="0">
                <a:solidFill>
                  <a:srgbClr val="94A3B8"/>
                </a:solidFill>
                <a:latin typeface="Arial"/>
              </a:rPr>
              <a:t>CodeGraph  |  Hackathon</a:t>
            </a:r>
          </a:p>
        </p:txBody>
      </p:sp>
      <p:sp>
        <p:nvSpPr>
          <p:cNvPr id="48" name="TextBox 47"/>
          <p:cNvSpPr txBox="1"/>
          <p:nvPr/>
        </p:nvSpPr>
        <p:spPr>
          <a:xfrm>
            <a:off x="10820095" y="6446520"/>
            <a:ext cx="731520" cy="274320"/>
          </a:xfrm>
          <a:prstGeom prst="rect">
            <a:avLst/>
          </a:prstGeom>
          <a:noFill/>
        </p:spPr>
        <p:txBody>
          <a:bodyPr wrap="square" lIns="36576" rIns="36576" tIns="18288" bIns="18288" anchor="t">
            <a:spAutoFit/>
          </a:bodyPr>
          <a:lstStyle/>
          <a:p>
            <a:pPr algn="r"/>
            <a:r>
              <a:rPr sz="1000" b="0">
                <a:solidFill>
                  <a:srgbClr val="94A3B8"/>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lIns="36576" rIns="36576" tIns="18288" bIns="18288" anchor="t">
            <a:spAutoFit/>
          </a:bodyPr>
          <a:lstStyle/>
          <a:p>
            <a:pPr algn="l"/>
            <a:r>
              <a:rPr sz="1200" b="1">
                <a:solidFill>
                  <a:srgbClr val="8B5CF6"/>
                </a:solidFill>
                <a:latin typeface="Arial"/>
              </a:rPr>
              <a:t>THE KEY IDEA</a:t>
            </a:r>
          </a:p>
        </p:txBody>
      </p:sp>
      <p:sp>
        <p:nvSpPr>
          <p:cNvPr id="3" name="TextBox 2"/>
          <p:cNvSpPr txBox="1"/>
          <p:nvPr/>
        </p:nvSpPr>
        <p:spPr>
          <a:xfrm>
            <a:off x="640080" y="731520"/>
            <a:ext cx="10881360" cy="822960"/>
          </a:xfrm>
          <a:prstGeom prst="rect">
            <a:avLst/>
          </a:prstGeom>
          <a:noFill/>
        </p:spPr>
        <p:txBody>
          <a:bodyPr wrap="square" lIns="36576" rIns="36576" tIns="18288" bIns="18288" anchor="t">
            <a:spAutoFit/>
          </a:bodyPr>
          <a:lstStyle/>
          <a:p>
            <a:pPr algn="l"/>
            <a:r>
              <a:rPr sz="3200" b="1">
                <a:solidFill>
                  <a:srgbClr val="F1F5F9"/>
                </a:solidFill>
                <a:latin typeface="Arial"/>
              </a:rPr>
              <a:t>Extractors observe. Linkers connect.</a:t>
            </a:r>
          </a:p>
        </p:txBody>
      </p:sp>
      <p:sp>
        <p:nvSpPr>
          <p:cNvPr id="4" name="Rectangle 3"/>
          <p:cNvSpPr/>
          <p:nvPr/>
        </p:nvSpPr>
        <p:spPr>
          <a:xfrm>
            <a:off x="676656" y="1481328"/>
            <a:ext cx="822960" cy="457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640080" y="1920240"/>
            <a:ext cx="3383280" cy="1645920"/>
          </a:xfrm>
          <a:prstGeom prst="roundRect">
            <a:avLst>
              <a:gd name="adj" fmla="val 8000"/>
            </a:avLst>
          </a:prstGeom>
          <a:solidFill>
            <a:srgbClr val="141824"/>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1965960"/>
            <a:ext cx="3017520" cy="274320"/>
          </a:xfrm>
          <a:prstGeom prst="rect">
            <a:avLst/>
          </a:prstGeom>
          <a:noFill/>
        </p:spPr>
        <p:txBody>
          <a:bodyPr wrap="square" lIns="36576" rIns="36576" tIns="18288" bIns="18288" anchor="t">
            <a:spAutoFit/>
          </a:bodyPr>
          <a:lstStyle/>
          <a:p>
            <a:pPr algn="l"/>
            <a:r>
              <a:rPr sz="1200" b="1">
                <a:solidFill>
                  <a:srgbClr val="3B82F6"/>
                </a:solidFill>
                <a:latin typeface="Arial"/>
              </a:rPr>
              <a:t>tb-discovery-mfe</a:t>
            </a:r>
          </a:p>
        </p:txBody>
      </p:sp>
      <p:sp>
        <p:nvSpPr>
          <p:cNvPr id="7" name="Rounded Rectangle 6"/>
          <p:cNvSpPr/>
          <p:nvPr/>
        </p:nvSpPr>
        <p:spPr>
          <a:xfrm>
            <a:off x="914400" y="2377440"/>
            <a:ext cx="2834640" cy="822960"/>
          </a:xfrm>
          <a:prstGeom prst="roundRect">
            <a:avLst>
              <a:gd name="adj" fmla="val 8000"/>
            </a:avLst>
          </a:prstGeom>
          <a:solidFill>
            <a:srgbClr val="141824"/>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60120" y="2377440"/>
            <a:ext cx="2743200" cy="822960"/>
          </a:xfrm>
          <a:prstGeom prst="rect">
            <a:avLst/>
          </a:prstGeom>
          <a:noFill/>
        </p:spPr>
        <p:txBody>
          <a:bodyPr wrap="square" lIns="36576" rIns="36576" tIns="18288" bIns="18288" anchor="ctr">
            <a:spAutoFit/>
          </a:bodyPr>
          <a:lstStyle/>
          <a:p>
            <a:pPr algn="ctr"/>
            <a:r>
              <a:rPr sz="1400" b="1">
                <a:solidFill>
                  <a:srgbClr val="F1F5F9"/>
                </a:solidFill>
                <a:latin typeface="Arial"/>
              </a:rPr>
              <a:t>ProductList</a:t>
            </a:r>
          </a:p>
          <a:p>
            <a:pPr algn="ctr"/>
            <a:r>
              <a:rPr sz="1000" b="0">
                <a:solidFill>
                  <a:srgbClr val="94A3B8"/>
                </a:solidFill>
                <a:latin typeface="Arial"/>
              </a:rPr>
              <a:t>component  |  fetch('/api/products')</a:t>
            </a:r>
          </a:p>
        </p:txBody>
      </p:sp>
      <p:sp>
        <p:nvSpPr>
          <p:cNvPr id="9" name="Rounded Rectangle 8"/>
          <p:cNvSpPr/>
          <p:nvPr/>
        </p:nvSpPr>
        <p:spPr>
          <a:xfrm>
            <a:off x="8138160" y="1920240"/>
            <a:ext cx="3383280" cy="1645920"/>
          </a:xfrm>
          <a:prstGeom prst="roundRect">
            <a:avLst>
              <a:gd name="adj" fmla="val 8000"/>
            </a:avLst>
          </a:prstGeom>
          <a:solidFill>
            <a:srgbClr val="141824"/>
          </a:solidFill>
          <a:ln w="1905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321040" y="1965960"/>
            <a:ext cx="3017520" cy="274320"/>
          </a:xfrm>
          <a:prstGeom prst="rect">
            <a:avLst/>
          </a:prstGeom>
          <a:noFill/>
        </p:spPr>
        <p:txBody>
          <a:bodyPr wrap="square" lIns="36576" rIns="36576" tIns="18288" bIns="18288" anchor="t">
            <a:spAutoFit/>
          </a:bodyPr>
          <a:lstStyle/>
          <a:p>
            <a:pPr algn="l"/>
            <a:r>
              <a:rPr sz="1200" b="1">
                <a:solidFill>
                  <a:srgbClr val="F472B6"/>
                </a:solidFill>
                <a:latin typeface="Arial"/>
              </a:rPr>
              <a:t>tb-selection-xapi</a:t>
            </a:r>
          </a:p>
        </p:txBody>
      </p:sp>
      <p:sp>
        <p:nvSpPr>
          <p:cNvPr id="11" name="Rounded Rectangle 10"/>
          <p:cNvSpPr/>
          <p:nvPr/>
        </p:nvSpPr>
        <p:spPr>
          <a:xfrm>
            <a:off x="8412480" y="2377440"/>
            <a:ext cx="2834640" cy="822960"/>
          </a:xfrm>
          <a:prstGeom prst="roundRect">
            <a:avLst>
              <a:gd name="adj" fmla="val 8000"/>
            </a:avLst>
          </a:prstGeom>
          <a:solidFill>
            <a:srgbClr val="141824"/>
          </a:solidFill>
          <a:ln w="1905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58200" y="2377440"/>
            <a:ext cx="2743200" cy="822960"/>
          </a:xfrm>
          <a:prstGeom prst="rect">
            <a:avLst/>
          </a:prstGeom>
          <a:noFill/>
        </p:spPr>
        <p:txBody>
          <a:bodyPr wrap="square" lIns="36576" rIns="36576" tIns="18288" bIns="18288" anchor="ctr">
            <a:spAutoFit/>
          </a:bodyPr>
          <a:lstStyle/>
          <a:p>
            <a:pPr algn="ctr"/>
            <a:r>
              <a:rPr sz="1400" b="1">
                <a:solidFill>
                  <a:srgbClr val="F1F5F9"/>
                </a:solidFill>
                <a:latin typeface="Arial"/>
              </a:rPr>
              <a:t>GET /api/products</a:t>
            </a:r>
          </a:p>
          <a:p>
            <a:pPr algn="ctr"/>
            <a:r>
              <a:rPr sz="1000" b="0">
                <a:solidFill>
                  <a:srgbClr val="94A3B8"/>
                </a:solidFill>
                <a:latin typeface="Arial"/>
              </a:rPr>
              <a:t>endpoint  |  Spring controller</a:t>
            </a:r>
          </a:p>
        </p:txBody>
      </p:sp>
      <p:cxnSp>
        <p:nvCxnSpPr>
          <p:cNvPr id="13" name="Connector 12"/>
          <p:cNvCxnSpPr/>
          <p:nvPr/>
        </p:nvCxnSpPr>
        <p:spPr>
          <a:xfrm>
            <a:off x="3749039" y="2788920"/>
            <a:ext cx="4663441" cy="0"/>
          </a:xfrm>
          <a:prstGeom prst="line">
            <a:avLst/>
          </a:prstGeom>
          <a:ln w="31750">
            <a:solidFill>
              <a:srgbClr val="8B5CF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74920" y="2377440"/>
            <a:ext cx="2011680" cy="310896"/>
          </a:xfrm>
          <a:prstGeom prst="roundRect">
            <a:avLst>
              <a:gd name="adj" fmla="val 50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074920" y="2377440"/>
            <a:ext cx="2011680" cy="310896"/>
          </a:xfrm>
          <a:prstGeom prst="rect">
            <a:avLst/>
          </a:prstGeom>
          <a:noFill/>
        </p:spPr>
        <p:txBody>
          <a:bodyPr wrap="square" lIns="36576" rIns="36576" tIns="18288" bIns="18288" anchor="ctr">
            <a:spAutoFit/>
          </a:bodyPr>
          <a:lstStyle/>
          <a:p>
            <a:pPr algn="ctr"/>
            <a:r>
              <a:rPr sz="1100" b="1">
                <a:solidFill>
                  <a:srgbClr val="8B5CF6"/>
                </a:solidFill>
                <a:latin typeface="Arial"/>
              </a:rPr>
              <a:t>fetches  |  INFERRED</a:t>
            </a:r>
          </a:p>
        </p:txBody>
      </p:sp>
      <p:sp>
        <p:nvSpPr>
          <p:cNvPr id="16" name="TextBox 15"/>
          <p:cNvSpPr txBox="1"/>
          <p:nvPr/>
        </p:nvSpPr>
        <p:spPr>
          <a:xfrm>
            <a:off x="4114800" y="2926080"/>
            <a:ext cx="4023360" cy="274320"/>
          </a:xfrm>
          <a:prstGeom prst="rect">
            <a:avLst/>
          </a:prstGeom>
          <a:noFill/>
        </p:spPr>
        <p:txBody>
          <a:bodyPr wrap="square" lIns="36576" rIns="36576" tIns="18288" bIns="18288" anchor="t">
            <a:spAutoFit/>
          </a:bodyPr>
          <a:lstStyle/>
          <a:p>
            <a:pPr algn="ctr"/>
            <a:r>
              <a:rPr sz="1100" b="0">
                <a:solidFill>
                  <a:srgbClr val="94A3B8"/>
                </a:solidFill>
                <a:latin typeface="Arial"/>
              </a:rPr>
              <a:t>resolved by the global link pass</a:t>
            </a:r>
          </a:p>
        </p:txBody>
      </p:sp>
      <p:sp>
        <p:nvSpPr>
          <p:cNvPr id="17" name="TextBox 16"/>
          <p:cNvSpPr txBox="1"/>
          <p:nvPr/>
        </p:nvSpPr>
        <p:spPr>
          <a:xfrm>
            <a:off x="640080" y="3840480"/>
            <a:ext cx="5486400" cy="274320"/>
          </a:xfrm>
          <a:prstGeom prst="rect">
            <a:avLst/>
          </a:prstGeom>
          <a:noFill/>
        </p:spPr>
        <p:txBody>
          <a:bodyPr wrap="square" lIns="36576" rIns="36576" tIns="18288" bIns="18288" anchor="t">
            <a:spAutoFit/>
          </a:bodyPr>
          <a:lstStyle/>
          <a:p>
            <a:pPr algn="l"/>
            <a:r>
              <a:rPr sz="1100" b="1">
                <a:solidFill>
                  <a:srgbClr val="94A3B8"/>
                </a:solidFill>
                <a:latin typeface="Arial"/>
              </a:rPr>
              <a:t>THREE WAYS THE LINK PASS CONNECTS REPOS</a:t>
            </a:r>
          </a:p>
        </p:txBody>
      </p:sp>
      <p:sp>
        <p:nvSpPr>
          <p:cNvPr id="18" name="Rounded Rectangle 17"/>
          <p:cNvSpPr/>
          <p:nvPr/>
        </p:nvSpPr>
        <p:spPr>
          <a:xfrm>
            <a:off x="640080" y="4160520"/>
            <a:ext cx="3474720" cy="2011680"/>
          </a:xfrm>
          <a:prstGeom prst="roundRect">
            <a:avLst>
              <a:gd name="adj" fmla="val 8000"/>
            </a:avLst>
          </a:prstGeom>
          <a:solidFill>
            <a:srgbClr val="141824"/>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68680" y="4297680"/>
            <a:ext cx="3017520" cy="365760"/>
          </a:xfrm>
          <a:prstGeom prst="rect">
            <a:avLst/>
          </a:prstGeom>
          <a:noFill/>
        </p:spPr>
        <p:txBody>
          <a:bodyPr wrap="square" lIns="36576" rIns="36576" tIns="18288" bIns="18288" anchor="t">
            <a:spAutoFit/>
          </a:bodyPr>
          <a:lstStyle/>
          <a:p>
            <a:pPr algn="l"/>
            <a:r>
              <a:rPr sz="1800" b="1">
                <a:solidFill>
                  <a:srgbClr val="22D3EE"/>
                </a:solidFill>
                <a:latin typeface="Arial"/>
              </a:rPr>
              <a:t>Pending calls</a:t>
            </a:r>
          </a:p>
        </p:txBody>
      </p:sp>
      <p:sp>
        <p:nvSpPr>
          <p:cNvPr id="20" name="TextBox 19"/>
          <p:cNvSpPr txBox="1"/>
          <p:nvPr/>
        </p:nvSpPr>
        <p:spPr>
          <a:xfrm>
            <a:off x="868680" y="4754880"/>
            <a:ext cx="3063240" cy="1371600"/>
          </a:xfrm>
          <a:prstGeom prst="rect">
            <a:avLst/>
          </a:prstGeom>
          <a:noFill/>
        </p:spPr>
        <p:txBody>
          <a:bodyPr wrap="square" lIns="36576" rIns="36576" tIns="18288" bIns="18288" anchor="t">
            <a:spAutoFit/>
          </a:bodyPr>
          <a:lstStyle/>
          <a:p>
            <a:pPr algn="l"/>
            <a:r>
              <a:rPr sz="1300" b="0">
                <a:solidFill>
                  <a:srgbClr val="94A3B8"/>
                </a:solidFill>
                <a:latin typeface="Arial"/>
              </a:rPr>
              <a:t>Match (method, path) to a global endpoint registry. Tolerates :param segments and API-client wrappers.</a:t>
            </a:r>
          </a:p>
        </p:txBody>
      </p:sp>
      <p:sp>
        <p:nvSpPr>
          <p:cNvPr id="21" name="Rounded Rectangle 20"/>
          <p:cNvSpPr/>
          <p:nvPr/>
        </p:nvSpPr>
        <p:spPr>
          <a:xfrm>
            <a:off x="4389120" y="4160520"/>
            <a:ext cx="3474720" cy="2011680"/>
          </a:xfrm>
          <a:prstGeom prst="roundRect">
            <a:avLst>
              <a:gd name="adj" fmla="val 8000"/>
            </a:avLst>
          </a:prstGeom>
          <a:solidFill>
            <a:srgbClr val="141824"/>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617720" y="4297680"/>
            <a:ext cx="3017520" cy="365760"/>
          </a:xfrm>
          <a:prstGeom prst="rect">
            <a:avLst/>
          </a:prstGeom>
          <a:noFill/>
        </p:spPr>
        <p:txBody>
          <a:bodyPr wrap="square" lIns="36576" rIns="36576" tIns="18288" bIns="18288" anchor="t">
            <a:spAutoFit/>
          </a:bodyPr>
          <a:lstStyle/>
          <a:p>
            <a:pPr algn="l"/>
            <a:r>
              <a:rPr sz="1800" b="1">
                <a:solidFill>
                  <a:srgbClr val="8B5CF6"/>
                </a:solidFill>
                <a:latin typeface="Arial"/>
              </a:rPr>
              <a:t>Service calls</a:t>
            </a:r>
          </a:p>
        </p:txBody>
      </p:sp>
      <p:sp>
        <p:nvSpPr>
          <p:cNvPr id="23" name="TextBox 22"/>
          <p:cNvSpPr txBox="1"/>
          <p:nvPr/>
        </p:nvSpPr>
        <p:spPr>
          <a:xfrm>
            <a:off x="4617720" y="4754880"/>
            <a:ext cx="3063240" cy="1371600"/>
          </a:xfrm>
          <a:prstGeom prst="rect">
            <a:avLst/>
          </a:prstGeom>
          <a:noFill/>
        </p:spPr>
        <p:txBody>
          <a:bodyPr wrap="square" lIns="36576" rIns="36576" tIns="18288" bIns="18288" anchor="t">
            <a:spAutoFit/>
          </a:bodyPr>
          <a:lstStyle/>
          <a:p>
            <a:pPr algn="l"/>
            <a:r>
              <a:rPr sz="1300" b="0">
                <a:solidFill>
                  <a:srgbClr val="94A3B8"/>
                </a:solidFill>
                <a:latin typeface="Arial"/>
              </a:rPr>
              <a:t>An env var like SELECTION_XAPI_BASE_URL becomes a calls_service edge to a service node, then narrows to real endpoints.</a:t>
            </a:r>
          </a:p>
        </p:txBody>
      </p:sp>
      <p:sp>
        <p:nvSpPr>
          <p:cNvPr id="24" name="Rounded Rectangle 23"/>
          <p:cNvSpPr/>
          <p:nvPr/>
        </p:nvSpPr>
        <p:spPr>
          <a:xfrm>
            <a:off x="8138159" y="4160520"/>
            <a:ext cx="3474720" cy="2011680"/>
          </a:xfrm>
          <a:prstGeom prst="roundRect">
            <a:avLst>
              <a:gd name="adj" fmla="val 8000"/>
            </a:avLst>
          </a:prstGeom>
          <a:solidFill>
            <a:srgbClr val="141824"/>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366759" y="4297680"/>
            <a:ext cx="3017520" cy="365760"/>
          </a:xfrm>
          <a:prstGeom prst="rect">
            <a:avLst/>
          </a:prstGeom>
          <a:noFill/>
        </p:spPr>
        <p:txBody>
          <a:bodyPr wrap="square" lIns="36576" rIns="36576" tIns="18288" bIns="18288" anchor="t">
            <a:spAutoFit/>
          </a:bodyPr>
          <a:lstStyle/>
          <a:p>
            <a:pPr algn="l"/>
            <a:r>
              <a:rPr sz="1800" b="1">
                <a:solidFill>
                  <a:srgbClr val="34D399"/>
                </a:solidFill>
                <a:latin typeface="Arial"/>
              </a:rPr>
              <a:t>Proxy routes</a:t>
            </a:r>
          </a:p>
        </p:txBody>
      </p:sp>
      <p:sp>
        <p:nvSpPr>
          <p:cNvPr id="26" name="TextBox 25"/>
          <p:cNvSpPr txBox="1"/>
          <p:nvPr/>
        </p:nvSpPr>
        <p:spPr>
          <a:xfrm>
            <a:off x="8366759" y="4754880"/>
            <a:ext cx="3063240" cy="1371600"/>
          </a:xfrm>
          <a:prstGeom prst="rect">
            <a:avLst/>
          </a:prstGeom>
          <a:noFill/>
        </p:spPr>
        <p:txBody>
          <a:bodyPr wrap="square" lIns="36576" rIns="36576" tIns="18288" bIns="18288" anchor="t">
            <a:spAutoFit/>
          </a:bodyPr>
          <a:lstStyle/>
          <a:p>
            <a:pPr algn="l"/>
            <a:r>
              <a:rPr sz="1300" b="0">
                <a:solidFill>
                  <a:srgbClr val="94A3B8"/>
                </a:solidFill>
                <a:latin typeface="Arial"/>
              </a:rPr>
              <a:t>A Next.js catch-all route links to the repo it forwards to (proxies_to). A bare /api/:path* is never linked.</a:t>
            </a:r>
          </a:p>
        </p:txBody>
      </p:sp>
      <p:sp>
        <p:nvSpPr>
          <p:cNvPr id="27" name="TextBox 26"/>
          <p:cNvSpPr txBox="1"/>
          <p:nvPr/>
        </p:nvSpPr>
        <p:spPr>
          <a:xfrm>
            <a:off x="640080" y="6446520"/>
            <a:ext cx="5486400" cy="274320"/>
          </a:xfrm>
          <a:prstGeom prst="rect">
            <a:avLst/>
          </a:prstGeom>
          <a:noFill/>
        </p:spPr>
        <p:txBody>
          <a:bodyPr wrap="square" lIns="36576" rIns="36576" tIns="18288" bIns="18288" anchor="t">
            <a:spAutoFit/>
          </a:bodyPr>
          <a:lstStyle/>
          <a:p>
            <a:pPr algn="l"/>
            <a:r>
              <a:rPr sz="1000" b="0">
                <a:solidFill>
                  <a:srgbClr val="94A3B8"/>
                </a:solidFill>
                <a:latin typeface="Arial"/>
              </a:rPr>
              <a:t>CodeGraph  |  Hackathon</a:t>
            </a:r>
          </a:p>
        </p:txBody>
      </p:sp>
      <p:sp>
        <p:nvSpPr>
          <p:cNvPr id="28" name="TextBox 27"/>
          <p:cNvSpPr txBox="1"/>
          <p:nvPr/>
        </p:nvSpPr>
        <p:spPr>
          <a:xfrm>
            <a:off x="10820095" y="6446520"/>
            <a:ext cx="731520" cy="274320"/>
          </a:xfrm>
          <a:prstGeom prst="rect">
            <a:avLst/>
          </a:prstGeom>
          <a:noFill/>
        </p:spPr>
        <p:txBody>
          <a:bodyPr wrap="square" lIns="36576" rIns="36576" tIns="18288" bIns="18288" anchor="t">
            <a:spAutoFit/>
          </a:bodyPr>
          <a:lstStyle/>
          <a:p>
            <a:pPr algn="r"/>
            <a:r>
              <a:rPr sz="1000" b="0">
                <a:solidFill>
                  <a:srgbClr val="94A3B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lIns="36576" rIns="36576" tIns="18288" bIns="18288" anchor="t">
            <a:spAutoFit/>
          </a:bodyPr>
          <a:lstStyle/>
          <a:p>
            <a:pPr algn="l"/>
            <a:r>
              <a:rPr sz="1200" b="1">
                <a:solidFill>
                  <a:srgbClr val="22D3EE"/>
                </a:solidFill>
                <a:latin typeface="Arial"/>
              </a:rPr>
              <a:t>WORKFLOW 1</a:t>
            </a:r>
          </a:p>
        </p:txBody>
      </p:sp>
      <p:sp>
        <p:nvSpPr>
          <p:cNvPr id="3" name="TextBox 2"/>
          <p:cNvSpPr txBox="1"/>
          <p:nvPr/>
        </p:nvSpPr>
        <p:spPr>
          <a:xfrm>
            <a:off x="640080" y="731520"/>
            <a:ext cx="10881360" cy="822960"/>
          </a:xfrm>
          <a:prstGeom prst="rect">
            <a:avLst/>
          </a:prstGeom>
          <a:noFill/>
        </p:spPr>
        <p:txBody>
          <a:bodyPr wrap="square" lIns="36576" rIns="36576" tIns="18288" bIns="18288" anchor="t">
            <a:spAutoFit/>
          </a:bodyPr>
          <a:lstStyle/>
          <a:p>
            <a:pPr algn="l"/>
            <a:r>
              <a:rPr sz="3200" b="1">
                <a:solidFill>
                  <a:srgbClr val="F1F5F9"/>
                </a:solidFill>
                <a:latin typeface="Arial"/>
              </a:rPr>
              <a:t>View Graph: progressive disclosure on React Flow</a:t>
            </a:r>
          </a:p>
        </p:txBody>
      </p:sp>
      <p:sp>
        <p:nvSpPr>
          <p:cNvPr id="4" name="Rectangle 3"/>
          <p:cNvSpPr/>
          <p:nvPr/>
        </p:nvSpPr>
        <p:spPr>
          <a:xfrm>
            <a:off x="676656" y="1481328"/>
            <a:ext cx="82296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640080" y="1874519"/>
            <a:ext cx="5577840" cy="1143000"/>
          </a:xfrm>
          <a:prstGeom prst="roundRect">
            <a:avLst>
              <a:gd name="adj" fmla="val 8000"/>
            </a:avLst>
          </a:prstGeom>
          <a:solidFill>
            <a:srgbClr val="141824"/>
          </a:solidFill>
          <a:ln w="190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947672"/>
            <a:ext cx="548640" cy="548640"/>
          </a:xfrm>
          <a:prstGeom prst="rect">
            <a:avLst/>
          </a:prstGeom>
          <a:noFill/>
        </p:spPr>
        <p:txBody>
          <a:bodyPr wrap="square" lIns="36576" rIns="36576" tIns="18288" bIns="18288" anchor="t">
            <a:spAutoFit/>
          </a:bodyPr>
          <a:lstStyle/>
          <a:p>
            <a:pPr algn="l"/>
            <a:r>
              <a:rPr sz="2800" b="1">
                <a:solidFill>
                  <a:srgbClr val="22D3EE"/>
                </a:solidFill>
                <a:latin typeface="Arial"/>
              </a:rPr>
              <a:t>1</a:t>
            </a:r>
          </a:p>
        </p:txBody>
      </p:sp>
      <p:sp>
        <p:nvSpPr>
          <p:cNvPr id="7" name="TextBox 6"/>
          <p:cNvSpPr txBox="1"/>
          <p:nvPr/>
        </p:nvSpPr>
        <p:spPr>
          <a:xfrm>
            <a:off x="1463040" y="2011679"/>
            <a:ext cx="4572000" cy="365760"/>
          </a:xfrm>
          <a:prstGeom prst="rect">
            <a:avLst/>
          </a:prstGeom>
          <a:noFill/>
        </p:spPr>
        <p:txBody>
          <a:bodyPr wrap="square" lIns="36576" rIns="36576" tIns="18288" bIns="18288" anchor="t">
            <a:spAutoFit/>
          </a:bodyPr>
          <a:lstStyle/>
          <a:p>
            <a:pPr algn="l"/>
            <a:r>
              <a:rPr sz="1800" b="1">
                <a:solidFill>
                  <a:srgbClr val="F1F5F9"/>
                </a:solidFill>
                <a:latin typeface="Arial"/>
              </a:rPr>
              <a:t>All-repos map</a:t>
            </a:r>
          </a:p>
        </p:txBody>
      </p:sp>
      <p:sp>
        <p:nvSpPr>
          <p:cNvPr id="8" name="TextBox 7"/>
          <p:cNvSpPr txBox="1"/>
          <p:nvPr/>
        </p:nvSpPr>
        <p:spPr>
          <a:xfrm>
            <a:off x="1463040" y="2404872"/>
            <a:ext cx="4572000" cy="548640"/>
          </a:xfrm>
          <a:prstGeom prst="rect">
            <a:avLst/>
          </a:prstGeom>
          <a:noFill/>
        </p:spPr>
        <p:txBody>
          <a:bodyPr wrap="square" lIns="36576" rIns="36576" tIns="18288" bIns="18288" anchor="t">
            <a:spAutoFit/>
          </a:bodyPr>
          <a:lstStyle/>
          <a:p>
            <a:pPr algn="l"/>
            <a:r>
              <a:rPr sz="1200" b="0">
                <a:solidFill>
                  <a:srgbClr val="94A3B8"/>
                </a:solidFill>
                <a:latin typeface="Arial"/>
              </a:rPr>
              <a:t>One box per repo, one arrow per repo pair, labelled with counts</a:t>
            </a:r>
          </a:p>
        </p:txBody>
      </p:sp>
      <p:cxnSp>
        <p:nvCxnSpPr>
          <p:cNvPr id="9" name="Connector 8"/>
          <p:cNvCxnSpPr/>
          <p:nvPr/>
        </p:nvCxnSpPr>
        <p:spPr>
          <a:xfrm>
            <a:off x="3429000" y="3017520"/>
            <a:ext cx="0" cy="18288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40080" y="3200400"/>
            <a:ext cx="5577840" cy="1143000"/>
          </a:xfrm>
          <a:prstGeom prst="roundRect">
            <a:avLst>
              <a:gd name="adj" fmla="val 8000"/>
            </a:avLst>
          </a:prstGeom>
          <a:solidFill>
            <a:srgbClr val="141824"/>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68680" y="3273552"/>
            <a:ext cx="548640" cy="548640"/>
          </a:xfrm>
          <a:prstGeom prst="rect">
            <a:avLst/>
          </a:prstGeom>
          <a:noFill/>
        </p:spPr>
        <p:txBody>
          <a:bodyPr wrap="square" lIns="36576" rIns="36576" tIns="18288" bIns="18288" anchor="t">
            <a:spAutoFit/>
          </a:bodyPr>
          <a:lstStyle/>
          <a:p>
            <a:pPr algn="l"/>
            <a:r>
              <a:rPr sz="2800" b="1">
                <a:solidFill>
                  <a:srgbClr val="3B82F6"/>
                </a:solidFill>
                <a:latin typeface="Arial"/>
              </a:rPr>
              <a:t>2</a:t>
            </a:r>
          </a:p>
        </p:txBody>
      </p:sp>
      <p:sp>
        <p:nvSpPr>
          <p:cNvPr id="12" name="TextBox 11"/>
          <p:cNvSpPr txBox="1"/>
          <p:nvPr/>
        </p:nvSpPr>
        <p:spPr>
          <a:xfrm>
            <a:off x="1463040" y="3337560"/>
            <a:ext cx="4572000" cy="365760"/>
          </a:xfrm>
          <a:prstGeom prst="rect">
            <a:avLst/>
          </a:prstGeom>
          <a:noFill/>
        </p:spPr>
        <p:txBody>
          <a:bodyPr wrap="square" lIns="36576" rIns="36576" tIns="18288" bIns="18288" anchor="t">
            <a:spAutoFit/>
          </a:bodyPr>
          <a:lstStyle/>
          <a:p>
            <a:pPr algn="l"/>
            <a:r>
              <a:rPr sz="1800" b="1">
                <a:solidFill>
                  <a:srgbClr val="F1F5F9"/>
                </a:solidFill>
                <a:latin typeface="Arial"/>
              </a:rPr>
              <a:t>Pick a repo</a:t>
            </a:r>
          </a:p>
        </p:txBody>
      </p:sp>
      <p:sp>
        <p:nvSpPr>
          <p:cNvPr id="13" name="TextBox 12"/>
          <p:cNvSpPr txBox="1"/>
          <p:nvPr/>
        </p:nvSpPr>
        <p:spPr>
          <a:xfrm>
            <a:off x="1463040" y="3730752"/>
            <a:ext cx="4572000" cy="548640"/>
          </a:xfrm>
          <a:prstGeom prst="rect">
            <a:avLst/>
          </a:prstGeom>
          <a:noFill/>
        </p:spPr>
        <p:txBody>
          <a:bodyPr wrap="square" lIns="36576" rIns="36576" tIns="18288" bIns="18288" anchor="t">
            <a:spAutoFit/>
          </a:bodyPr>
          <a:lstStyle/>
          <a:p>
            <a:pPr algn="l"/>
            <a:r>
              <a:rPr sz="1200" b="0">
                <a:solidFill>
                  <a:srgbClr val="94A3B8"/>
                </a:solidFill>
                <a:latin typeface="Arial"/>
              </a:rPr>
              <a:t>Repo in the middle, entry points around it: packages, pages, endpoints</a:t>
            </a:r>
          </a:p>
        </p:txBody>
      </p:sp>
      <p:cxnSp>
        <p:nvCxnSpPr>
          <p:cNvPr id="14" name="Connector 13"/>
          <p:cNvCxnSpPr/>
          <p:nvPr/>
        </p:nvCxnSpPr>
        <p:spPr>
          <a:xfrm>
            <a:off x="3429000" y="4343400"/>
            <a:ext cx="0" cy="18288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40080" y="4526279"/>
            <a:ext cx="5577840" cy="1143000"/>
          </a:xfrm>
          <a:prstGeom prst="roundRect">
            <a:avLst>
              <a:gd name="adj" fmla="val 8000"/>
            </a:avLst>
          </a:prstGeom>
          <a:solidFill>
            <a:srgbClr val="141824"/>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68680" y="4599431"/>
            <a:ext cx="548640" cy="548640"/>
          </a:xfrm>
          <a:prstGeom prst="rect">
            <a:avLst/>
          </a:prstGeom>
          <a:noFill/>
        </p:spPr>
        <p:txBody>
          <a:bodyPr wrap="square" lIns="36576" rIns="36576" tIns="18288" bIns="18288" anchor="t">
            <a:spAutoFit/>
          </a:bodyPr>
          <a:lstStyle/>
          <a:p>
            <a:pPr algn="l"/>
            <a:r>
              <a:rPr sz="2800" b="1">
                <a:solidFill>
                  <a:srgbClr val="8B5CF6"/>
                </a:solidFill>
                <a:latin typeface="Arial"/>
              </a:rPr>
              <a:t>3</a:t>
            </a:r>
          </a:p>
        </p:txBody>
      </p:sp>
      <p:sp>
        <p:nvSpPr>
          <p:cNvPr id="17" name="TextBox 16"/>
          <p:cNvSpPr txBox="1"/>
          <p:nvPr/>
        </p:nvSpPr>
        <p:spPr>
          <a:xfrm>
            <a:off x="1463040" y="4663440"/>
            <a:ext cx="4572000" cy="365760"/>
          </a:xfrm>
          <a:prstGeom prst="rect">
            <a:avLst/>
          </a:prstGeom>
          <a:noFill/>
        </p:spPr>
        <p:txBody>
          <a:bodyPr wrap="square" lIns="36576" rIns="36576" tIns="18288" bIns="18288" anchor="t">
            <a:spAutoFit/>
          </a:bodyPr>
          <a:lstStyle/>
          <a:p>
            <a:pPr algn="l"/>
            <a:r>
              <a:rPr sz="1800" b="1">
                <a:solidFill>
                  <a:srgbClr val="F1F5F9"/>
                </a:solidFill>
                <a:latin typeface="Arial"/>
              </a:rPr>
              <a:t>Neighborhood</a:t>
            </a:r>
          </a:p>
        </p:txBody>
      </p:sp>
      <p:sp>
        <p:nvSpPr>
          <p:cNvPr id="18" name="TextBox 17"/>
          <p:cNvSpPr txBox="1"/>
          <p:nvPr/>
        </p:nvSpPr>
        <p:spPr>
          <a:xfrm>
            <a:off x="1463040" y="5056631"/>
            <a:ext cx="4572000" cy="548640"/>
          </a:xfrm>
          <a:prstGeom prst="rect">
            <a:avLst/>
          </a:prstGeom>
          <a:noFill/>
        </p:spPr>
        <p:txBody>
          <a:bodyPr wrap="square" lIns="36576" rIns="36576" tIns="18288" bIns="18288" anchor="t">
            <a:spAutoFit/>
          </a:bodyPr>
          <a:lstStyle/>
          <a:p>
            <a:pPr algn="l"/>
            <a:r>
              <a:rPr sz="1200" b="0">
                <a:solidFill>
                  <a:srgbClr val="94A3B8"/>
                </a:solidFill>
                <a:latin typeface="Arial"/>
              </a:rPr>
              <a:t>A node plus everything one hop away, in any repo. Click to walk.</a:t>
            </a:r>
          </a:p>
        </p:txBody>
      </p:sp>
      <p:sp>
        <p:nvSpPr>
          <p:cNvPr id="19" name="Rounded Rectangle 18"/>
          <p:cNvSpPr/>
          <p:nvPr/>
        </p:nvSpPr>
        <p:spPr>
          <a:xfrm>
            <a:off x="6583680" y="1874519"/>
            <a:ext cx="4937760" cy="3703320"/>
          </a:xfrm>
          <a:prstGeom prst="roundRect">
            <a:avLst>
              <a:gd name="adj" fmla="val 8000"/>
            </a:avLst>
          </a:prstGeom>
          <a:solidFill>
            <a:srgbClr val="141824"/>
          </a:solidFill>
          <a:ln w="12700">
            <a:solidFill>
              <a:srgbClr val="2A314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766560" y="1938528"/>
            <a:ext cx="4572000" cy="274320"/>
          </a:xfrm>
          <a:prstGeom prst="rect">
            <a:avLst/>
          </a:prstGeom>
          <a:noFill/>
        </p:spPr>
        <p:txBody>
          <a:bodyPr wrap="square" lIns="36576" rIns="36576" tIns="18288" bIns="18288" anchor="t">
            <a:spAutoFit/>
          </a:bodyPr>
          <a:lstStyle/>
          <a:p>
            <a:pPr algn="l"/>
            <a:r>
              <a:rPr sz="1000" b="1">
                <a:solidFill>
                  <a:srgbClr val="94A3B8"/>
                </a:solidFill>
                <a:latin typeface="Arial"/>
              </a:rPr>
              <a:t>NEIGHBORHOOD OF ProductList (ILLUSTRATIVE)</a:t>
            </a:r>
          </a:p>
        </p:txBody>
      </p:sp>
      <p:sp>
        <p:nvSpPr>
          <p:cNvPr id="21" name="Rounded Rectangle 20"/>
          <p:cNvSpPr/>
          <p:nvPr/>
        </p:nvSpPr>
        <p:spPr>
          <a:xfrm>
            <a:off x="8229600" y="3337560"/>
            <a:ext cx="1645920" cy="685800"/>
          </a:xfrm>
          <a:prstGeom prst="roundRect">
            <a:avLst>
              <a:gd name="adj" fmla="val 8000"/>
            </a:avLst>
          </a:prstGeom>
          <a:solidFill>
            <a:srgbClr val="241B4B"/>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75320" y="3337560"/>
            <a:ext cx="1554480" cy="685800"/>
          </a:xfrm>
          <a:prstGeom prst="rect">
            <a:avLst/>
          </a:prstGeom>
          <a:noFill/>
        </p:spPr>
        <p:txBody>
          <a:bodyPr wrap="square" lIns="36576" rIns="36576" tIns="18288" bIns="18288" anchor="ctr">
            <a:spAutoFit/>
          </a:bodyPr>
          <a:lstStyle/>
          <a:p>
            <a:pPr algn="ctr"/>
            <a:r>
              <a:rPr sz="1400" b="1">
                <a:solidFill>
                  <a:srgbClr val="F1F5F9"/>
                </a:solidFill>
                <a:latin typeface="Arial"/>
              </a:rPr>
              <a:t>ProductList</a:t>
            </a:r>
          </a:p>
          <a:p>
            <a:pPr algn="ctr"/>
            <a:r>
              <a:rPr sz="1000" b="0">
                <a:solidFill>
                  <a:srgbClr val="94A3B8"/>
                </a:solidFill>
                <a:latin typeface="Arial"/>
              </a:rPr>
              <a:t>focus</a:t>
            </a:r>
          </a:p>
        </p:txBody>
      </p:sp>
      <p:sp>
        <p:nvSpPr>
          <p:cNvPr id="23" name="Rounded Rectangle 22"/>
          <p:cNvSpPr/>
          <p:nvPr/>
        </p:nvSpPr>
        <p:spPr>
          <a:xfrm>
            <a:off x="6766560" y="2468880"/>
            <a:ext cx="1371600" cy="548640"/>
          </a:xfrm>
          <a:prstGeom prst="roundRect">
            <a:avLst>
              <a:gd name="adj" fmla="val 8000"/>
            </a:avLst>
          </a:prstGeom>
          <a:solidFill>
            <a:srgbClr val="141824"/>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812280" y="2468880"/>
            <a:ext cx="1280160" cy="548640"/>
          </a:xfrm>
          <a:prstGeom prst="rect">
            <a:avLst/>
          </a:prstGeom>
          <a:noFill/>
        </p:spPr>
        <p:txBody>
          <a:bodyPr wrap="square" lIns="36576" rIns="36576" tIns="18288" bIns="18288" anchor="ctr">
            <a:spAutoFit/>
          </a:bodyPr>
          <a:lstStyle/>
          <a:p>
            <a:pPr algn="ctr"/>
            <a:r>
              <a:rPr sz="1100" b="1">
                <a:solidFill>
                  <a:srgbClr val="F1F5F9"/>
                </a:solidFill>
                <a:latin typeface="Arial"/>
              </a:rPr>
              <a:t>ProductsPage</a:t>
            </a:r>
          </a:p>
        </p:txBody>
      </p:sp>
      <p:sp>
        <p:nvSpPr>
          <p:cNvPr id="25" name="Rounded Rectangle 24"/>
          <p:cNvSpPr/>
          <p:nvPr/>
        </p:nvSpPr>
        <p:spPr>
          <a:xfrm>
            <a:off x="6766560" y="4297680"/>
            <a:ext cx="1371600" cy="548640"/>
          </a:xfrm>
          <a:prstGeom prst="roundRect">
            <a:avLst>
              <a:gd name="adj" fmla="val 8000"/>
            </a:avLst>
          </a:prstGeom>
          <a:solidFill>
            <a:srgbClr val="141824"/>
          </a:solid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12280" y="4297680"/>
            <a:ext cx="1280160" cy="548640"/>
          </a:xfrm>
          <a:prstGeom prst="rect">
            <a:avLst/>
          </a:prstGeom>
          <a:noFill/>
        </p:spPr>
        <p:txBody>
          <a:bodyPr wrap="square" lIns="36576" rIns="36576" tIns="18288" bIns="18288" anchor="ctr">
            <a:spAutoFit/>
          </a:bodyPr>
          <a:lstStyle/>
          <a:p>
            <a:pPr algn="ctr"/>
            <a:r>
              <a:rPr sz="1100" b="1">
                <a:solidFill>
                  <a:srgbClr val="F1F5F9"/>
                </a:solidFill>
                <a:latin typeface="Arial"/>
              </a:rPr>
              <a:t>ProductList.tsx</a:t>
            </a:r>
          </a:p>
        </p:txBody>
      </p:sp>
      <p:sp>
        <p:nvSpPr>
          <p:cNvPr id="27" name="Rounded Rectangle 26"/>
          <p:cNvSpPr/>
          <p:nvPr/>
        </p:nvSpPr>
        <p:spPr>
          <a:xfrm>
            <a:off x="10058400" y="2468880"/>
            <a:ext cx="1325880" cy="548640"/>
          </a:xfrm>
          <a:prstGeom prst="roundRect">
            <a:avLst>
              <a:gd name="adj" fmla="val 8000"/>
            </a:avLst>
          </a:prstGeom>
          <a:solidFill>
            <a:srgbClr val="141824"/>
          </a:solidFill>
          <a:ln w="1905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104120" y="2468880"/>
            <a:ext cx="1234439" cy="548640"/>
          </a:xfrm>
          <a:prstGeom prst="rect">
            <a:avLst/>
          </a:prstGeom>
          <a:noFill/>
        </p:spPr>
        <p:txBody>
          <a:bodyPr wrap="square" lIns="36576" rIns="36576" tIns="18288" bIns="18288" anchor="ctr">
            <a:spAutoFit/>
          </a:bodyPr>
          <a:lstStyle/>
          <a:p>
            <a:pPr algn="ctr"/>
            <a:r>
              <a:rPr sz="1100" b="1">
                <a:solidFill>
                  <a:srgbClr val="F1F5F9"/>
                </a:solidFill>
                <a:latin typeface="Arial"/>
              </a:rPr>
              <a:t>formatPrice()</a:t>
            </a:r>
          </a:p>
        </p:txBody>
      </p:sp>
      <p:sp>
        <p:nvSpPr>
          <p:cNvPr id="29" name="Rounded Rectangle 28"/>
          <p:cNvSpPr/>
          <p:nvPr/>
        </p:nvSpPr>
        <p:spPr>
          <a:xfrm>
            <a:off x="10012680" y="4297680"/>
            <a:ext cx="1417320" cy="548640"/>
          </a:xfrm>
          <a:prstGeom prst="roundRect">
            <a:avLst>
              <a:gd name="adj" fmla="val 8000"/>
            </a:avLst>
          </a:prstGeom>
          <a:solidFill>
            <a:srgbClr val="141824"/>
          </a:solidFill>
          <a:ln w="1905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58400" y="4297680"/>
            <a:ext cx="1325880" cy="548640"/>
          </a:xfrm>
          <a:prstGeom prst="rect">
            <a:avLst/>
          </a:prstGeom>
          <a:noFill/>
        </p:spPr>
        <p:txBody>
          <a:bodyPr wrap="square" lIns="36576" rIns="36576" tIns="18288" bIns="18288" anchor="ctr">
            <a:spAutoFit/>
          </a:bodyPr>
          <a:lstStyle/>
          <a:p>
            <a:pPr algn="ctr"/>
            <a:r>
              <a:rPr sz="1000" b="1">
                <a:solidFill>
                  <a:srgbClr val="F1F5F9"/>
                </a:solidFill>
                <a:latin typeface="Arial"/>
              </a:rPr>
              <a:t>GET /api/products</a:t>
            </a:r>
          </a:p>
        </p:txBody>
      </p:sp>
      <p:cxnSp>
        <p:nvCxnSpPr>
          <p:cNvPr id="31" name="Connector 30"/>
          <p:cNvCxnSpPr/>
          <p:nvPr/>
        </p:nvCxnSpPr>
        <p:spPr>
          <a:xfrm>
            <a:off x="8138160" y="2788920"/>
            <a:ext cx="365760" cy="548640"/>
          </a:xfrm>
          <a:prstGeom prst="line">
            <a:avLst/>
          </a:prstGeom>
          <a:ln w="22225">
            <a:solidFill>
              <a:srgbClr val="3B82F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8138160" y="4023360"/>
            <a:ext cx="457200" cy="54864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9692640" y="3017520"/>
            <a:ext cx="548640" cy="320040"/>
          </a:xfrm>
          <a:prstGeom prst="line">
            <a:avLst/>
          </a:prstGeom>
          <a:ln w="22225">
            <a:solidFill>
              <a:srgbClr val="34D39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692640" y="4023360"/>
            <a:ext cx="548640" cy="320040"/>
          </a:xfrm>
          <a:prstGeom prst="line">
            <a:avLst/>
          </a:prstGeom>
          <a:ln w="22225">
            <a:solidFill>
              <a:srgbClr val="F472B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766560" y="4983480"/>
            <a:ext cx="4572000" cy="548640"/>
          </a:xfrm>
          <a:prstGeom prst="rect">
            <a:avLst/>
          </a:prstGeom>
          <a:noFill/>
        </p:spPr>
        <p:txBody>
          <a:bodyPr wrap="square" lIns="36576" rIns="36576" tIns="18288" bIns="18288" anchor="t">
            <a:spAutoFit/>
          </a:bodyPr>
          <a:lstStyle/>
          <a:p>
            <a:pPr algn="l"/>
            <a:r>
              <a:rPr sz="1100" b="0">
                <a:solidFill>
                  <a:srgbClr val="94A3B8"/>
                </a:solidFill>
                <a:latin typeface="Arial"/>
              </a:rPr>
              <a:t>Left: used by / parent.   Right: uses / children.
Dashed = inferred, other repo.</a:t>
            </a:r>
          </a:p>
        </p:txBody>
      </p:sp>
      <p:sp>
        <p:nvSpPr>
          <p:cNvPr id="36" name="TextBox 35"/>
          <p:cNvSpPr txBox="1"/>
          <p:nvPr/>
        </p:nvSpPr>
        <p:spPr>
          <a:xfrm>
            <a:off x="640080" y="5715000"/>
            <a:ext cx="2103120" cy="457200"/>
          </a:xfrm>
          <a:prstGeom prst="rect">
            <a:avLst/>
          </a:prstGeom>
          <a:noFill/>
        </p:spPr>
        <p:txBody>
          <a:bodyPr wrap="square" lIns="36576" rIns="36576" tIns="18288" bIns="18288" anchor="t">
            <a:spAutoFit/>
          </a:bodyPr>
          <a:lstStyle/>
          <a:p>
            <a:pPr algn="l"/>
            <a:r>
              <a:rPr sz="2400" b="1">
                <a:solidFill>
                  <a:srgbClr val="22D3EE"/>
                </a:solidFill>
                <a:latin typeface="Arial"/>
              </a:rPr>
              <a:t>13.2k</a:t>
            </a:r>
          </a:p>
        </p:txBody>
      </p:sp>
      <p:sp>
        <p:nvSpPr>
          <p:cNvPr id="37" name="TextBox 36"/>
          <p:cNvSpPr txBox="1"/>
          <p:nvPr/>
        </p:nvSpPr>
        <p:spPr>
          <a:xfrm>
            <a:off x="640080" y="6126480"/>
            <a:ext cx="2103120" cy="274320"/>
          </a:xfrm>
          <a:prstGeom prst="rect">
            <a:avLst/>
          </a:prstGeom>
          <a:noFill/>
        </p:spPr>
        <p:txBody>
          <a:bodyPr wrap="square" lIns="36576" rIns="36576" tIns="18288" bIns="18288" anchor="t">
            <a:spAutoFit/>
          </a:bodyPr>
          <a:lstStyle/>
          <a:p>
            <a:pPr algn="l"/>
            <a:r>
              <a:rPr sz="1100" b="0">
                <a:solidFill>
                  <a:srgbClr val="94A3B8"/>
                </a:solidFill>
                <a:latin typeface="Arial"/>
              </a:rPr>
              <a:t>nodes</a:t>
            </a:r>
          </a:p>
        </p:txBody>
      </p:sp>
      <p:sp>
        <p:nvSpPr>
          <p:cNvPr id="38" name="TextBox 37"/>
          <p:cNvSpPr txBox="1"/>
          <p:nvPr/>
        </p:nvSpPr>
        <p:spPr>
          <a:xfrm>
            <a:off x="2834639" y="5715000"/>
            <a:ext cx="2103120" cy="457200"/>
          </a:xfrm>
          <a:prstGeom prst="rect">
            <a:avLst/>
          </a:prstGeom>
          <a:noFill/>
        </p:spPr>
        <p:txBody>
          <a:bodyPr wrap="square" lIns="36576" rIns="36576" tIns="18288" bIns="18288" anchor="t">
            <a:spAutoFit/>
          </a:bodyPr>
          <a:lstStyle/>
          <a:p>
            <a:pPr algn="l"/>
            <a:r>
              <a:rPr sz="2400" b="1">
                <a:solidFill>
                  <a:srgbClr val="22D3EE"/>
                </a:solidFill>
                <a:latin typeface="Arial"/>
              </a:rPr>
              <a:t>35.9k</a:t>
            </a:r>
          </a:p>
        </p:txBody>
      </p:sp>
      <p:sp>
        <p:nvSpPr>
          <p:cNvPr id="39" name="TextBox 38"/>
          <p:cNvSpPr txBox="1"/>
          <p:nvPr/>
        </p:nvSpPr>
        <p:spPr>
          <a:xfrm>
            <a:off x="2834639" y="6126480"/>
            <a:ext cx="2103120" cy="274320"/>
          </a:xfrm>
          <a:prstGeom prst="rect">
            <a:avLst/>
          </a:prstGeom>
          <a:noFill/>
        </p:spPr>
        <p:txBody>
          <a:bodyPr wrap="square" lIns="36576" rIns="36576" tIns="18288" bIns="18288" anchor="t">
            <a:spAutoFit/>
          </a:bodyPr>
          <a:lstStyle/>
          <a:p>
            <a:pPr algn="l"/>
            <a:r>
              <a:rPr sz="1100" b="0">
                <a:solidFill>
                  <a:srgbClr val="94A3B8"/>
                </a:solidFill>
                <a:latin typeface="Arial"/>
              </a:rPr>
              <a:t>edges</a:t>
            </a:r>
          </a:p>
        </p:txBody>
      </p:sp>
      <p:sp>
        <p:nvSpPr>
          <p:cNvPr id="40" name="TextBox 39"/>
          <p:cNvSpPr txBox="1"/>
          <p:nvPr/>
        </p:nvSpPr>
        <p:spPr>
          <a:xfrm>
            <a:off x="5029200" y="5715000"/>
            <a:ext cx="2103120" cy="457200"/>
          </a:xfrm>
          <a:prstGeom prst="rect">
            <a:avLst/>
          </a:prstGeom>
          <a:noFill/>
        </p:spPr>
        <p:txBody>
          <a:bodyPr wrap="square" lIns="36576" rIns="36576" tIns="18288" bIns="18288" anchor="t">
            <a:spAutoFit/>
          </a:bodyPr>
          <a:lstStyle/>
          <a:p>
            <a:pPr algn="l"/>
            <a:r>
              <a:rPr sz="2400" b="1">
                <a:solidFill>
                  <a:srgbClr val="22D3EE"/>
                </a:solidFill>
                <a:latin typeface="Arial"/>
              </a:rPr>
              <a:t>6</a:t>
            </a:r>
          </a:p>
        </p:txBody>
      </p:sp>
      <p:sp>
        <p:nvSpPr>
          <p:cNvPr id="41" name="TextBox 40"/>
          <p:cNvSpPr txBox="1"/>
          <p:nvPr/>
        </p:nvSpPr>
        <p:spPr>
          <a:xfrm>
            <a:off x="5029200" y="6126480"/>
            <a:ext cx="2103120" cy="274320"/>
          </a:xfrm>
          <a:prstGeom prst="rect">
            <a:avLst/>
          </a:prstGeom>
          <a:noFill/>
        </p:spPr>
        <p:txBody>
          <a:bodyPr wrap="square" lIns="36576" rIns="36576" tIns="18288" bIns="18288" anchor="t">
            <a:spAutoFit/>
          </a:bodyPr>
          <a:lstStyle/>
          <a:p>
            <a:pPr algn="l"/>
            <a:r>
              <a:rPr sz="1100" b="0">
                <a:solidFill>
                  <a:srgbClr val="94A3B8"/>
                </a:solidFill>
                <a:latin typeface="Arial"/>
              </a:rPr>
              <a:t>repos</a:t>
            </a:r>
          </a:p>
        </p:txBody>
      </p:sp>
      <p:sp>
        <p:nvSpPr>
          <p:cNvPr id="42" name="TextBox 41"/>
          <p:cNvSpPr txBox="1"/>
          <p:nvPr/>
        </p:nvSpPr>
        <p:spPr>
          <a:xfrm>
            <a:off x="7223759" y="5715000"/>
            <a:ext cx="2103120" cy="457200"/>
          </a:xfrm>
          <a:prstGeom prst="rect">
            <a:avLst/>
          </a:prstGeom>
          <a:noFill/>
        </p:spPr>
        <p:txBody>
          <a:bodyPr wrap="square" lIns="36576" rIns="36576" tIns="18288" bIns="18288" anchor="t">
            <a:spAutoFit/>
          </a:bodyPr>
          <a:lstStyle/>
          <a:p>
            <a:pPr algn="l"/>
            <a:r>
              <a:rPr sz="2400" b="1">
                <a:solidFill>
                  <a:srgbClr val="22D3EE"/>
                </a:solidFill>
                <a:latin typeface="Arial"/>
              </a:rPr>
              <a:t>88</a:t>
            </a:r>
          </a:p>
        </p:txBody>
      </p:sp>
      <p:sp>
        <p:nvSpPr>
          <p:cNvPr id="43" name="TextBox 42"/>
          <p:cNvSpPr txBox="1"/>
          <p:nvPr/>
        </p:nvSpPr>
        <p:spPr>
          <a:xfrm>
            <a:off x="7223759" y="6126480"/>
            <a:ext cx="2103120" cy="274320"/>
          </a:xfrm>
          <a:prstGeom prst="rect">
            <a:avLst/>
          </a:prstGeom>
          <a:noFill/>
        </p:spPr>
        <p:txBody>
          <a:bodyPr wrap="square" lIns="36576" rIns="36576" tIns="18288" bIns="18288" anchor="t">
            <a:spAutoFit/>
          </a:bodyPr>
          <a:lstStyle/>
          <a:p>
            <a:pPr algn="l"/>
            <a:r>
              <a:rPr sz="1100" b="0">
                <a:solidFill>
                  <a:srgbClr val="94A3B8"/>
                </a:solidFill>
                <a:latin typeface="Arial"/>
              </a:rPr>
              <a:t>endpoints</a:t>
            </a:r>
          </a:p>
        </p:txBody>
      </p:sp>
      <p:sp>
        <p:nvSpPr>
          <p:cNvPr id="44" name="TextBox 43"/>
          <p:cNvSpPr txBox="1"/>
          <p:nvPr/>
        </p:nvSpPr>
        <p:spPr>
          <a:xfrm>
            <a:off x="9418319" y="5715000"/>
            <a:ext cx="2103120" cy="457200"/>
          </a:xfrm>
          <a:prstGeom prst="rect">
            <a:avLst/>
          </a:prstGeom>
          <a:noFill/>
        </p:spPr>
        <p:txBody>
          <a:bodyPr wrap="square" lIns="36576" rIns="36576" tIns="18288" bIns="18288" anchor="t">
            <a:spAutoFit/>
          </a:bodyPr>
          <a:lstStyle/>
          <a:p>
            <a:pPr algn="l"/>
            <a:r>
              <a:rPr sz="2400" b="1">
                <a:solidFill>
                  <a:srgbClr val="22D3EE"/>
                </a:solidFill>
                <a:latin typeface="Arial"/>
              </a:rPr>
              <a:t>839</a:t>
            </a:r>
          </a:p>
        </p:txBody>
      </p:sp>
      <p:sp>
        <p:nvSpPr>
          <p:cNvPr id="45" name="TextBox 44"/>
          <p:cNvSpPr txBox="1"/>
          <p:nvPr/>
        </p:nvSpPr>
        <p:spPr>
          <a:xfrm>
            <a:off x="9418319" y="6126480"/>
            <a:ext cx="2103120" cy="274320"/>
          </a:xfrm>
          <a:prstGeom prst="rect">
            <a:avLst/>
          </a:prstGeom>
          <a:noFill/>
        </p:spPr>
        <p:txBody>
          <a:bodyPr wrap="square" lIns="36576" rIns="36576" tIns="18288" bIns="18288" anchor="t">
            <a:spAutoFit/>
          </a:bodyPr>
          <a:lstStyle/>
          <a:p>
            <a:pPr algn="l"/>
            <a:r>
              <a:rPr sz="1100" b="0">
                <a:solidFill>
                  <a:srgbClr val="94A3B8"/>
                </a:solidFill>
                <a:latin typeface="Arial"/>
              </a:rPr>
              <a:t>components</a:t>
            </a:r>
          </a:p>
        </p:txBody>
      </p:sp>
      <p:sp>
        <p:nvSpPr>
          <p:cNvPr id="46" name="TextBox 45"/>
          <p:cNvSpPr txBox="1"/>
          <p:nvPr/>
        </p:nvSpPr>
        <p:spPr>
          <a:xfrm>
            <a:off x="640080" y="6446520"/>
            <a:ext cx="5486400" cy="274320"/>
          </a:xfrm>
          <a:prstGeom prst="rect">
            <a:avLst/>
          </a:prstGeom>
          <a:noFill/>
        </p:spPr>
        <p:txBody>
          <a:bodyPr wrap="square" lIns="36576" rIns="36576" tIns="18288" bIns="18288" anchor="t">
            <a:spAutoFit/>
          </a:bodyPr>
          <a:lstStyle/>
          <a:p>
            <a:pPr algn="l"/>
            <a:r>
              <a:rPr sz="1000" b="0">
                <a:solidFill>
                  <a:srgbClr val="94A3B8"/>
                </a:solidFill>
                <a:latin typeface="Arial"/>
              </a:rPr>
              <a:t>CodeGraph  |  Hackathon</a:t>
            </a:r>
          </a:p>
        </p:txBody>
      </p:sp>
      <p:sp>
        <p:nvSpPr>
          <p:cNvPr id="47" name="TextBox 46"/>
          <p:cNvSpPr txBox="1"/>
          <p:nvPr/>
        </p:nvSpPr>
        <p:spPr>
          <a:xfrm>
            <a:off x="10820095" y="6446520"/>
            <a:ext cx="731520" cy="274320"/>
          </a:xfrm>
          <a:prstGeom prst="rect">
            <a:avLst/>
          </a:prstGeom>
          <a:noFill/>
        </p:spPr>
        <p:txBody>
          <a:bodyPr wrap="square" lIns="36576" rIns="36576" tIns="18288" bIns="18288" anchor="t">
            <a:spAutoFit/>
          </a:bodyPr>
          <a:lstStyle/>
          <a:p>
            <a:pPr algn="r"/>
            <a:r>
              <a:rPr sz="1000" b="0">
                <a:solidFill>
                  <a:srgbClr val="94A3B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lIns="36576" rIns="36576" tIns="18288" bIns="18288" anchor="t">
            <a:spAutoFit/>
          </a:bodyPr>
          <a:lstStyle/>
          <a:p>
            <a:pPr algn="l"/>
            <a:r>
              <a:rPr sz="1200" b="1">
                <a:solidFill>
                  <a:srgbClr val="8B5CF6"/>
                </a:solidFill>
                <a:latin typeface="Arial"/>
              </a:rPr>
              <a:t>WORKFLOW 2</a:t>
            </a:r>
          </a:p>
        </p:txBody>
      </p:sp>
      <p:sp>
        <p:nvSpPr>
          <p:cNvPr id="3" name="TextBox 2"/>
          <p:cNvSpPr txBox="1"/>
          <p:nvPr/>
        </p:nvSpPr>
        <p:spPr>
          <a:xfrm>
            <a:off x="640080" y="731520"/>
            <a:ext cx="10881360" cy="822960"/>
          </a:xfrm>
          <a:prstGeom prst="rect">
            <a:avLst/>
          </a:prstGeom>
          <a:noFill/>
        </p:spPr>
        <p:txBody>
          <a:bodyPr wrap="square" lIns="36576" rIns="36576" tIns="18288" bIns="18288" anchor="t">
            <a:spAutoFit/>
          </a:bodyPr>
          <a:lstStyle/>
          <a:p>
            <a:pPr algn="l"/>
            <a:r>
              <a:rPr sz="3200" b="1">
                <a:solidFill>
                  <a:srgbClr val="F1F5F9"/>
                </a:solidFill>
                <a:latin typeface="Arial"/>
              </a:rPr>
              <a:t>Ask AI: answers with real files and line numbers</a:t>
            </a:r>
          </a:p>
        </p:txBody>
      </p:sp>
      <p:sp>
        <p:nvSpPr>
          <p:cNvPr id="4" name="Rectangle 3"/>
          <p:cNvSpPr/>
          <p:nvPr/>
        </p:nvSpPr>
        <p:spPr>
          <a:xfrm>
            <a:off x="676656" y="1481328"/>
            <a:ext cx="822960" cy="457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640080" y="1965960"/>
            <a:ext cx="2377440" cy="960120"/>
          </a:xfrm>
          <a:prstGeom prst="roundRect">
            <a:avLst>
              <a:gd name="adj" fmla="val 8000"/>
            </a:avLst>
          </a:prstGeom>
          <a:solidFill>
            <a:srgbClr val="141824"/>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1965960"/>
            <a:ext cx="2286000" cy="960120"/>
          </a:xfrm>
          <a:prstGeom prst="rect">
            <a:avLst/>
          </a:prstGeom>
          <a:noFill/>
        </p:spPr>
        <p:txBody>
          <a:bodyPr wrap="square" lIns="36576" rIns="36576" tIns="18288" bIns="18288" anchor="ctr">
            <a:spAutoFit/>
          </a:bodyPr>
          <a:lstStyle/>
          <a:p>
            <a:pPr algn="ctr"/>
            <a:r>
              <a:rPr sz="1500" b="1">
                <a:solidFill>
                  <a:srgbClr val="F1F5F9"/>
                </a:solidFill>
                <a:latin typeface="Arial"/>
              </a:rPr>
              <a:t>Question</a:t>
            </a:r>
          </a:p>
          <a:p>
            <a:pPr algn="ctr"/>
            <a:r>
              <a:rPr sz="1100" b="0">
                <a:solidFill>
                  <a:srgbClr val="94A3B8"/>
                </a:solidFill>
                <a:latin typeface="Arial"/>
              </a:rPr>
              <a:t>plain English</a:t>
            </a:r>
          </a:p>
        </p:txBody>
      </p:sp>
      <p:cxnSp>
        <p:nvCxnSpPr>
          <p:cNvPr id="7" name="Connector 6"/>
          <p:cNvCxnSpPr/>
          <p:nvPr/>
        </p:nvCxnSpPr>
        <p:spPr>
          <a:xfrm>
            <a:off x="3017520" y="2441448"/>
            <a:ext cx="457200"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474720" y="1965960"/>
            <a:ext cx="2377440" cy="960120"/>
          </a:xfrm>
          <a:prstGeom prst="roundRect">
            <a:avLst>
              <a:gd name="adj" fmla="val 8000"/>
            </a:avLst>
          </a:prstGeom>
          <a:solidFill>
            <a:srgbClr val="141824"/>
          </a:solidFill>
          <a:ln w="190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20439" y="1965960"/>
            <a:ext cx="2286000" cy="960120"/>
          </a:xfrm>
          <a:prstGeom prst="rect">
            <a:avLst/>
          </a:prstGeom>
          <a:noFill/>
        </p:spPr>
        <p:txBody>
          <a:bodyPr wrap="square" lIns="36576" rIns="36576" tIns="18288" bIns="18288" anchor="ctr">
            <a:spAutoFit/>
          </a:bodyPr>
          <a:lstStyle/>
          <a:p>
            <a:pPr algn="ctr"/>
            <a:r>
              <a:rPr sz="1500" b="1">
                <a:solidFill>
                  <a:srgbClr val="F1F5F9"/>
                </a:solidFill>
                <a:latin typeface="Arial"/>
              </a:rPr>
              <a:t>Graph context</a:t>
            </a:r>
          </a:p>
          <a:p>
            <a:pPr algn="ctr"/>
            <a:r>
              <a:rPr sz="1100" b="0">
                <a:solidFill>
                  <a:srgbClr val="94A3B8"/>
                </a:solidFill>
                <a:latin typeface="Arial"/>
              </a:rPr>
              <a:t>keyword subgraph</a:t>
            </a:r>
          </a:p>
        </p:txBody>
      </p:sp>
      <p:cxnSp>
        <p:nvCxnSpPr>
          <p:cNvPr id="10" name="Connector 9"/>
          <p:cNvCxnSpPr/>
          <p:nvPr/>
        </p:nvCxnSpPr>
        <p:spPr>
          <a:xfrm>
            <a:off x="5852160" y="2441448"/>
            <a:ext cx="457200"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309360" y="1965960"/>
            <a:ext cx="2377440" cy="960120"/>
          </a:xfrm>
          <a:prstGeom prst="roundRect">
            <a:avLst>
              <a:gd name="adj" fmla="val 8000"/>
            </a:avLst>
          </a:prstGeom>
          <a:solidFill>
            <a:srgbClr val="141824"/>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55080" y="1965960"/>
            <a:ext cx="2286000" cy="960120"/>
          </a:xfrm>
          <a:prstGeom prst="rect">
            <a:avLst/>
          </a:prstGeom>
          <a:noFill/>
        </p:spPr>
        <p:txBody>
          <a:bodyPr wrap="square" lIns="36576" rIns="36576" tIns="18288" bIns="18288" anchor="ctr">
            <a:spAutoFit/>
          </a:bodyPr>
          <a:lstStyle/>
          <a:p>
            <a:pPr algn="ctr"/>
            <a:r>
              <a:rPr sz="1500" b="1">
                <a:solidFill>
                  <a:srgbClr val="F1F5F9"/>
                </a:solidFill>
                <a:latin typeface="Arial"/>
              </a:rPr>
              <a:t>Agent</a:t>
            </a:r>
          </a:p>
          <a:p>
            <a:pPr algn="ctr"/>
            <a:r>
              <a:rPr sz="1100" b="0">
                <a:solidFill>
                  <a:srgbClr val="94A3B8"/>
                </a:solidFill>
                <a:latin typeface="Arial"/>
              </a:rPr>
              <a:t>opens real files</a:t>
            </a:r>
          </a:p>
        </p:txBody>
      </p:sp>
      <p:cxnSp>
        <p:nvCxnSpPr>
          <p:cNvPr id="13" name="Connector 12"/>
          <p:cNvCxnSpPr/>
          <p:nvPr/>
        </p:nvCxnSpPr>
        <p:spPr>
          <a:xfrm>
            <a:off x="8686800" y="2441448"/>
            <a:ext cx="457200"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144000" y="1965960"/>
            <a:ext cx="2377440" cy="960120"/>
          </a:xfrm>
          <a:prstGeom prst="roundRect">
            <a:avLst>
              <a:gd name="adj" fmla="val 8000"/>
            </a:avLst>
          </a:prstGeom>
          <a:solidFill>
            <a:srgbClr val="141824"/>
          </a:solidFill>
          <a:ln w="1905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89720" y="1965960"/>
            <a:ext cx="2286000" cy="960120"/>
          </a:xfrm>
          <a:prstGeom prst="rect">
            <a:avLst/>
          </a:prstGeom>
          <a:noFill/>
        </p:spPr>
        <p:txBody>
          <a:bodyPr wrap="square" lIns="36576" rIns="36576" tIns="18288" bIns="18288" anchor="ctr">
            <a:spAutoFit/>
          </a:bodyPr>
          <a:lstStyle/>
          <a:p>
            <a:pPr algn="ctr"/>
            <a:r>
              <a:rPr sz="1500" b="1">
                <a:solidFill>
                  <a:srgbClr val="F1F5F9"/>
                </a:solidFill>
                <a:latin typeface="Arial"/>
              </a:rPr>
              <a:t>Answer</a:t>
            </a:r>
          </a:p>
          <a:p>
            <a:pPr algn="ctr"/>
            <a:r>
              <a:rPr sz="1100" b="0">
                <a:solidFill>
                  <a:srgbClr val="94A3B8"/>
                </a:solidFill>
                <a:latin typeface="Arial"/>
              </a:rPr>
              <a:t>file:line + chips</a:t>
            </a:r>
          </a:p>
        </p:txBody>
      </p:sp>
      <p:sp>
        <p:nvSpPr>
          <p:cNvPr id="16" name="Rounded Rectangle 15"/>
          <p:cNvSpPr/>
          <p:nvPr/>
        </p:nvSpPr>
        <p:spPr>
          <a:xfrm>
            <a:off x="640080" y="3337560"/>
            <a:ext cx="5303520" cy="2743200"/>
          </a:xfrm>
          <a:prstGeom prst="roundRect">
            <a:avLst>
              <a:gd name="adj" fmla="val 8000"/>
            </a:avLst>
          </a:prstGeom>
          <a:solidFill>
            <a:srgbClr val="141824"/>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8680" y="3429000"/>
            <a:ext cx="4846320" cy="365760"/>
          </a:xfrm>
          <a:prstGeom prst="rect">
            <a:avLst/>
          </a:prstGeom>
          <a:noFill/>
        </p:spPr>
        <p:txBody>
          <a:bodyPr wrap="square" lIns="36576" rIns="36576" tIns="18288" bIns="18288" anchor="t">
            <a:spAutoFit/>
          </a:bodyPr>
          <a:lstStyle/>
          <a:p>
            <a:pPr algn="l"/>
            <a:r>
              <a:rPr sz="1800" b="1">
                <a:solidFill>
                  <a:srgbClr val="F1F5F9"/>
                </a:solidFill>
                <a:latin typeface="Arial"/>
              </a:rPr>
              <a:t>Read-only, enforced by the SDK</a:t>
            </a:r>
          </a:p>
        </p:txBody>
      </p:sp>
      <p:sp>
        <p:nvSpPr>
          <p:cNvPr id="18" name="Rounded Rectangle 17"/>
          <p:cNvSpPr/>
          <p:nvPr/>
        </p:nvSpPr>
        <p:spPr>
          <a:xfrm>
            <a:off x="868680" y="3977639"/>
            <a:ext cx="1097280" cy="365760"/>
          </a:xfrm>
          <a:prstGeom prst="roundRect">
            <a:avLst>
              <a:gd name="adj" fmla="val 50000"/>
            </a:avLst>
          </a:prstGeom>
          <a:no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68680" y="3977639"/>
            <a:ext cx="1097280" cy="365760"/>
          </a:xfrm>
          <a:prstGeom prst="rect">
            <a:avLst/>
          </a:prstGeom>
          <a:noFill/>
        </p:spPr>
        <p:txBody>
          <a:bodyPr wrap="square" lIns="36576" rIns="36576" tIns="18288" bIns="18288" anchor="ctr">
            <a:spAutoFit/>
          </a:bodyPr>
          <a:lstStyle/>
          <a:p>
            <a:pPr algn="ctr"/>
            <a:r>
              <a:rPr sz="1300" b="1">
                <a:solidFill>
                  <a:srgbClr val="34D399"/>
                </a:solidFill>
                <a:latin typeface="Arial"/>
              </a:rPr>
              <a:t>read</a:t>
            </a:r>
          </a:p>
        </p:txBody>
      </p:sp>
      <p:sp>
        <p:nvSpPr>
          <p:cNvPr id="20" name="Rounded Rectangle 19"/>
          <p:cNvSpPr/>
          <p:nvPr/>
        </p:nvSpPr>
        <p:spPr>
          <a:xfrm>
            <a:off x="2103120" y="3977639"/>
            <a:ext cx="1097280" cy="365760"/>
          </a:xfrm>
          <a:prstGeom prst="roundRect">
            <a:avLst>
              <a:gd name="adj" fmla="val 50000"/>
            </a:avLst>
          </a:prstGeom>
          <a:no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103120" y="3977639"/>
            <a:ext cx="1097280" cy="365760"/>
          </a:xfrm>
          <a:prstGeom prst="rect">
            <a:avLst/>
          </a:prstGeom>
          <a:noFill/>
        </p:spPr>
        <p:txBody>
          <a:bodyPr wrap="square" lIns="36576" rIns="36576" tIns="18288" bIns="18288" anchor="ctr">
            <a:spAutoFit/>
          </a:bodyPr>
          <a:lstStyle/>
          <a:p>
            <a:pPr algn="ctr"/>
            <a:r>
              <a:rPr sz="1300" b="1">
                <a:solidFill>
                  <a:srgbClr val="34D399"/>
                </a:solidFill>
                <a:latin typeface="Arial"/>
              </a:rPr>
              <a:t>grep</a:t>
            </a:r>
          </a:p>
        </p:txBody>
      </p:sp>
      <p:sp>
        <p:nvSpPr>
          <p:cNvPr id="22" name="Rounded Rectangle 21"/>
          <p:cNvSpPr/>
          <p:nvPr/>
        </p:nvSpPr>
        <p:spPr>
          <a:xfrm>
            <a:off x="3337560" y="3977639"/>
            <a:ext cx="1097280" cy="365760"/>
          </a:xfrm>
          <a:prstGeom prst="roundRect">
            <a:avLst>
              <a:gd name="adj" fmla="val 50000"/>
            </a:avLst>
          </a:prstGeom>
          <a:no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337560" y="3977639"/>
            <a:ext cx="1097280" cy="365760"/>
          </a:xfrm>
          <a:prstGeom prst="rect">
            <a:avLst/>
          </a:prstGeom>
          <a:noFill/>
        </p:spPr>
        <p:txBody>
          <a:bodyPr wrap="square" lIns="36576" rIns="36576" tIns="18288" bIns="18288" anchor="ctr">
            <a:spAutoFit/>
          </a:bodyPr>
          <a:lstStyle/>
          <a:p>
            <a:pPr algn="ctr"/>
            <a:r>
              <a:rPr sz="1300" b="1">
                <a:solidFill>
                  <a:srgbClr val="34D399"/>
                </a:solidFill>
                <a:latin typeface="Arial"/>
              </a:rPr>
              <a:t>glob</a:t>
            </a:r>
          </a:p>
        </p:txBody>
      </p:sp>
      <p:sp>
        <p:nvSpPr>
          <p:cNvPr id="24" name="Rounded Rectangle 23"/>
          <p:cNvSpPr/>
          <p:nvPr/>
        </p:nvSpPr>
        <p:spPr>
          <a:xfrm>
            <a:off x="4572000" y="3977639"/>
            <a:ext cx="1097280" cy="365760"/>
          </a:xfrm>
          <a:prstGeom prst="roundRect">
            <a:avLst>
              <a:gd name="adj" fmla="val 50000"/>
            </a:avLst>
          </a:prstGeom>
          <a:no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572000" y="3977639"/>
            <a:ext cx="1097280" cy="365760"/>
          </a:xfrm>
          <a:prstGeom prst="rect">
            <a:avLst/>
          </a:prstGeom>
          <a:noFill/>
        </p:spPr>
        <p:txBody>
          <a:bodyPr wrap="square" lIns="36576" rIns="36576" tIns="18288" bIns="18288" anchor="ctr">
            <a:spAutoFit/>
          </a:bodyPr>
          <a:lstStyle/>
          <a:p>
            <a:pPr algn="ctr"/>
            <a:r>
              <a:rPr sz="1300" b="1">
                <a:solidFill>
                  <a:srgbClr val="34D399"/>
                </a:solidFill>
                <a:latin typeface="Arial"/>
              </a:rPr>
              <a:t>ls</a:t>
            </a:r>
          </a:p>
        </p:txBody>
      </p:sp>
      <p:sp>
        <p:nvSpPr>
          <p:cNvPr id="26" name="TextBox 25"/>
          <p:cNvSpPr txBox="1"/>
          <p:nvPr/>
        </p:nvSpPr>
        <p:spPr>
          <a:xfrm>
            <a:off x="868680" y="4526280"/>
            <a:ext cx="4846320" cy="1463040"/>
          </a:xfrm>
          <a:prstGeom prst="rect">
            <a:avLst/>
          </a:prstGeom>
          <a:noFill/>
        </p:spPr>
        <p:txBody>
          <a:bodyPr wrap="square" lIns="36576" rIns="36576" tIns="18288" bIns="18288" anchor="t">
            <a:spAutoFit/>
          </a:bodyPr>
          <a:lstStyle/>
          <a:p>
            <a:pPr algn="l"/>
            <a:r>
              <a:rPr sz="1300" b="0">
                <a:solidFill>
                  <a:srgbClr val="94A3B8"/>
                </a:solidFill>
                <a:latin typeface="Arial"/>
              </a:rPr>
              <a:t>The agent has no shell, edit or delete tool. Read-only is set at agent creation, not requested in the prompt.</a:t>
            </a:r>
          </a:p>
        </p:txBody>
      </p:sp>
      <p:sp>
        <p:nvSpPr>
          <p:cNvPr id="27" name="Oval 26"/>
          <p:cNvSpPr/>
          <p:nvPr/>
        </p:nvSpPr>
        <p:spPr>
          <a:xfrm>
            <a:off x="6309360" y="3529584"/>
            <a:ext cx="100584" cy="10058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565392" y="3429000"/>
            <a:ext cx="4956048" cy="585216"/>
          </a:xfrm>
          <a:prstGeom prst="rect">
            <a:avLst/>
          </a:prstGeom>
          <a:noFill/>
        </p:spPr>
        <p:txBody>
          <a:bodyPr wrap="square" lIns="36576" rIns="36576" tIns="18288" bIns="18288" anchor="t">
            <a:spAutoFit/>
          </a:bodyPr>
          <a:lstStyle/>
          <a:p>
            <a:pPr algn="l"/>
            <a:r>
              <a:rPr sz="1400" b="0">
                <a:solidFill>
                  <a:srgbClr val="F1F5F9"/>
                </a:solidFill>
                <a:latin typeface="Arial"/>
              </a:rPr>
              <a:t>Graph is a map: if it disagrees with a file, the agent trusts the file</a:t>
            </a:r>
          </a:p>
        </p:txBody>
      </p:sp>
      <p:sp>
        <p:nvSpPr>
          <p:cNvPr id="29" name="Oval 28"/>
          <p:cNvSpPr/>
          <p:nvPr/>
        </p:nvSpPr>
        <p:spPr>
          <a:xfrm>
            <a:off x="6309360" y="4216400"/>
            <a:ext cx="100584" cy="10058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565392" y="4115816"/>
            <a:ext cx="4956048" cy="585216"/>
          </a:xfrm>
          <a:prstGeom prst="rect">
            <a:avLst/>
          </a:prstGeom>
          <a:noFill/>
        </p:spPr>
        <p:txBody>
          <a:bodyPr wrap="square" lIns="36576" rIns="36576" tIns="18288" bIns="18288" anchor="t">
            <a:spAutoFit/>
          </a:bodyPr>
          <a:lstStyle/>
          <a:p>
            <a:pPr algn="l"/>
            <a:r>
              <a:rPr sz="1400" b="0">
                <a:solidFill>
                  <a:srgbClr val="F1F5F9"/>
                </a:solidFill>
                <a:latin typeface="Arial"/>
              </a:rPr>
              <a:t>One conversation is one agent: follow-ups keep context, and resume after restart</a:t>
            </a:r>
          </a:p>
        </p:txBody>
      </p:sp>
      <p:sp>
        <p:nvSpPr>
          <p:cNvPr id="31" name="Oval 30"/>
          <p:cNvSpPr/>
          <p:nvPr/>
        </p:nvSpPr>
        <p:spPr>
          <a:xfrm>
            <a:off x="6309360" y="4903216"/>
            <a:ext cx="100584" cy="10058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565392" y="4802632"/>
            <a:ext cx="4956048" cy="585216"/>
          </a:xfrm>
          <a:prstGeom prst="rect">
            <a:avLst/>
          </a:prstGeom>
          <a:noFill/>
        </p:spPr>
        <p:txBody>
          <a:bodyPr wrap="square" lIns="36576" rIns="36576" tIns="18288" bIns="18288" anchor="t">
            <a:spAutoFit/>
          </a:bodyPr>
          <a:lstStyle/>
          <a:p>
            <a:pPr algn="l"/>
            <a:r>
              <a:rPr sz="1400" b="0">
                <a:solidFill>
                  <a:srgbClr val="F1F5F9"/>
                </a:solidFill>
                <a:latin typeface="Arial"/>
              </a:rPr>
              <a:t>Live status in the UI: "Running grep..." instead of a bare spinner</a:t>
            </a:r>
          </a:p>
        </p:txBody>
      </p:sp>
      <p:sp>
        <p:nvSpPr>
          <p:cNvPr id="33" name="Oval 32"/>
          <p:cNvSpPr/>
          <p:nvPr/>
        </p:nvSpPr>
        <p:spPr>
          <a:xfrm>
            <a:off x="6309360" y="5590032"/>
            <a:ext cx="100584" cy="100584"/>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565392" y="5489448"/>
            <a:ext cx="4956048" cy="585216"/>
          </a:xfrm>
          <a:prstGeom prst="rect">
            <a:avLst/>
          </a:prstGeom>
          <a:noFill/>
        </p:spPr>
        <p:txBody>
          <a:bodyPr wrap="square" lIns="36576" rIns="36576" tIns="18288" bIns="18288" anchor="t">
            <a:spAutoFit/>
          </a:bodyPr>
          <a:lstStyle/>
          <a:p>
            <a:pPr algn="l"/>
            <a:r>
              <a:rPr sz="1400" b="0">
                <a:solidFill>
                  <a:srgbClr val="F1F5F9"/>
                </a:solidFill>
                <a:latin typeface="Arial"/>
              </a:rPr>
              <a:t>No graph match? The agent searches the code itself and says so</a:t>
            </a:r>
          </a:p>
        </p:txBody>
      </p:sp>
      <p:sp>
        <p:nvSpPr>
          <p:cNvPr id="35" name="TextBox 34"/>
          <p:cNvSpPr txBox="1"/>
          <p:nvPr/>
        </p:nvSpPr>
        <p:spPr>
          <a:xfrm>
            <a:off x="640080" y="6446520"/>
            <a:ext cx="5486400" cy="274320"/>
          </a:xfrm>
          <a:prstGeom prst="rect">
            <a:avLst/>
          </a:prstGeom>
          <a:noFill/>
        </p:spPr>
        <p:txBody>
          <a:bodyPr wrap="square" lIns="36576" rIns="36576" tIns="18288" bIns="18288" anchor="t">
            <a:spAutoFit/>
          </a:bodyPr>
          <a:lstStyle/>
          <a:p>
            <a:pPr algn="l"/>
            <a:r>
              <a:rPr sz="1000" b="0">
                <a:solidFill>
                  <a:srgbClr val="94A3B8"/>
                </a:solidFill>
                <a:latin typeface="Arial"/>
              </a:rPr>
              <a:t>CodeGraph  |  Hackathon</a:t>
            </a:r>
          </a:p>
        </p:txBody>
      </p:sp>
      <p:sp>
        <p:nvSpPr>
          <p:cNvPr id="36" name="TextBox 35"/>
          <p:cNvSpPr txBox="1"/>
          <p:nvPr/>
        </p:nvSpPr>
        <p:spPr>
          <a:xfrm>
            <a:off x="10820095" y="6446520"/>
            <a:ext cx="731520" cy="274320"/>
          </a:xfrm>
          <a:prstGeom prst="rect">
            <a:avLst/>
          </a:prstGeom>
          <a:noFill/>
        </p:spPr>
        <p:txBody>
          <a:bodyPr wrap="square" lIns="36576" rIns="36576" tIns="18288" bIns="18288" anchor="t">
            <a:spAutoFit/>
          </a:bodyPr>
          <a:lstStyle/>
          <a:p>
            <a:pPr algn="r"/>
            <a:r>
              <a:rPr sz="1000" b="0">
                <a:solidFill>
                  <a:srgbClr val="94A3B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lIns="36576" rIns="36576" tIns="18288" bIns="18288" anchor="t">
            <a:spAutoFit/>
          </a:bodyPr>
          <a:lstStyle/>
          <a:p>
            <a:pPr algn="l"/>
            <a:r>
              <a:rPr sz="1200" b="1">
                <a:solidFill>
                  <a:srgbClr val="34D399"/>
                </a:solidFill>
                <a:latin typeface="Arial"/>
              </a:rPr>
              <a:t>WORKFLOW 3</a:t>
            </a:r>
          </a:p>
        </p:txBody>
      </p:sp>
      <p:sp>
        <p:nvSpPr>
          <p:cNvPr id="3" name="TextBox 2"/>
          <p:cNvSpPr txBox="1"/>
          <p:nvPr/>
        </p:nvSpPr>
        <p:spPr>
          <a:xfrm>
            <a:off x="640080" y="731520"/>
            <a:ext cx="10881360" cy="822960"/>
          </a:xfrm>
          <a:prstGeom prst="rect">
            <a:avLst/>
          </a:prstGeom>
          <a:noFill/>
        </p:spPr>
        <p:txBody>
          <a:bodyPr wrap="square" lIns="36576" rIns="36576" tIns="18288" bIns="18288" anchor="t">
            <a:spAutoFit/>
          </a:bodyPr>
          <a:lstStyle/>
          <a:p>
            <a:pPr algn="l"/>
            <a:r>
              <a:rPr sz="3200" b="1">
                <a:solidFill>
                  <a:srgbClr val="F1F5F9"/>
                </a:solidFill>
                <a:latin typeface="Arial"/>
              </a:rPr>
              <a:t>Fix Bugs: test-proven fixes, four human gates</a:t>
            </a:r>
          </a:p>
        </p:txBody>
      </p:sp>
      <p:sp>
        <p:nvSpPr>
          <p:cNvPr id="4" name="Rectangle 3"/>
          <p:cNvSpPr/>
          <p:nvPr/>
        </p:nvSpPr>
        <p:spPr>
          <a:xfrm>
            <a:off x="676656" y="1481328"/>
            <a:ext cx="822960"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640080" y="1965960"/>
            <a:ext cx="2423160" cy="1600200"/>
          </a:xfrm>
          <a:prstGeom prst="roundRect">
            <a:avLst>
              <a:gd name="adj" fmla="val 8000"/>
            </a:avLst>
          </a:prstGeom>
          <a:solidFill>
            <a:srgbClr val="141824"/>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2011680"/>
            <a:ext cx="457200" cy="365760"/>
          </a:xfrm>
          <a:prstGeom prst="rect">
            <a:avLst/>
          </a:prstGeom>
          <a:noFill/>
        </p:spPr>
        <p:txBody>
          <a:bodyPr wrap="square" lIns="36576" rIns="36576" tIns="18288" bIns="18288" anchor="t">
            <a:spAutoFit/>
          </a:bodyPr>
          <a:lstStyle/>
          <a:p>
            <a:pPr algn="l"/>
            <a:r>
              <a:rPr sz="2000" b="1">
                <a:solidFill>
                  <a:srgbClr val="3B82F6"/>
                </a:solidFill>
                <a:latin typeface="Arial"/>
              </a:rPr>
              <a:t>1</a:t>
            </a:r>
          </a:p>
        </p:txBody>
      </p:sp>
      <p:sp>
        <p:nvSpPr>
          <p:cNvPr id="7" name="TextBox 6"/>
          <p:cNvSpPr txBox="1"/>
          <p:nvPr/>
        </p:nvSpPr>
        <p:spPr>
          <a:xfrm>
            <a:off x="777240" y="2423160"/>
            <a:ext cx="2148840" cy="685800"/>
          </a:xfrm>
          <a:prstGeom prst="rect">
            <a:avLst/>
          </a:prstGeom>
          <a:noFill/>
        </p:spPr>
        <p:txBody>
          <a:bodyPr wrap="square" lIns="36576" rIns="36576" tIns="18288" bIns="18288" anchor="t">
            <a:spAutoFit/>
          </a:bodyPr>
          <a:lstStyle/>
          <a:p>
            <a:pPr algn="l"/>
            <a:r>
              <a:rPr sz="1500" b="1">
                <a:solidFill>
                  <a:srgbClr val="F1F5F9"/>
                </a:solidFill>
                <a:latin typeface="Arial"/>
              </a:rPr>
              <a:t>Analyze
and locate</a:t>
            </a:r>
          </a:p>
        </p:txBody>
      </p:sp>
      <p:sp>
        <p:nvSpPr>
          <p:cNvPr id="8" name="TextBox 7"/>
          <p:cNvSpPr txBox="1"/>
          <p:nvPr/>
        </p:nvSpPr>
        <p:spPr>
          <a:xfrm>
            <a:off x="777240" y="3154680"/>
            <a:ext cx="2148840" cy="274320"/>
          </a:xfrm>
          <a:prstGeom prst="rect">
            <a:avLst/>
          </a:prstGeom>
          <a:noFill/>
        </p:spPr>
        <p:txBody>
          <a:bodyPr wrap="square" lIns="36576" rIns="36576" tIns="18288" bIns="18288" anchor="t">
            <a:spAutoFit/>
          </a:bodyPr>
          <a:lstStyle/>
          <a:p>
            <a:pPr algn="l"/>
            <a:r>
              <a:rPr sz="1000" b="0">
                <a:solidFill>
                  <a:srgbClr val="94A3B8"/>
                </a:solidFill>
                <a:latin typeface="Arial"/>
              </a:rPr>
              <a:t>bugfix.md</a:t>
            </a:r>
          </a:p>
        </p:txBody>
      </p:sp>
      <p:cxnSp>
        <p:nvCxnSpPr>
          <p:cNvPr id="9" name="Connector 8"/>
          <p:cNvCxnSpPr/>
          <p:nvPr/>
        </p:nvCxnSpPr>
        <p:spPr>
          <a:xfrm>
            <a:off x="3063239" y="2743200"/>
            <a:ext cx="393193" cy="0"/>
          </a:xfrm>
          <a:prstGeom prst="line">
            <a:avLst/>
          </a:prstGeom>
          <a:ln w="28575">
            <a:solidFill>
              <a:srgbClr val="F871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017520" y="2331720"/>
            <a:ext cx="484632" cy="274320"/>
          </a:xfrm>
          <a:prstGeom prst="roundRect">
            <a:avLst>
              <a:gd name="adj" fmla="val 50000"/>
            </a:avLst>
          </a:prstGeom>
          <a:no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017520" y="2331720"/>
            <a:ext cx="484632" cy="274320"/>
          </a:xfrm>
          <a:prstGeom prst="rect">
            <a:avLst/>
          </a:prstGeom>
          <a:noFill/>
        </p:spPr>
        <p:txBody>
          <a:bodyPr wrap="square" lIns="36576" rIns="36576" tIns="18288" bIns="18288" anchor="ctr">
            <a:spAutoFit/>
          </a:bodyPr>
          <a:lstStyle/>
          <a:p>
            <a:pPr algn="ctr"/>
            <a:r>
              <a:rPr sz="1000" b="1">
                <a:solidFill>
                  <a:srgbClr val="F87171"/>
                </a:solidFill>
                <a:latin typeface="Arial"/>
              </a:rPr>
              <a:t>G1</a:t>
            </a:r>
          </a:p>
        </p:txBody>
      </p:sp>
      <p:sp>
        <p:nvSpPr>
          <p:cNvPr id="12" name="Rounded Rectangle 11"/>
          <p:cNvSpPr/>
          <p:nvPr/>
        </p:nvSpPr>
        <p:spPr>
          <a:xfrm>
            <a:off x="3456432" y="1965960"/>
            <a:ext cx="2423160" cy="1600200"/>
          </a:xfrm>
          <a:prstGeom prst="roundRect">
            <a:avLst>
              <a:gd name="adj" fmla="val 8000"/>
            </a:avLst>
          </a:prstGeom>
          <a:solidFill>
            <a:srgbClr val="141824"/>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93592" y="2011680"/>
            <a:ext cx="457200" cy="365760"/>
          </a:xfrm>
          <a:prstGeom prst="rect">
            <a:avLst/>
          </a:prstGeom>
          <a:noFill/>
        </p:spPr>
        <p:txBody>
          <a:bodyPr wrap="square" lIns="36576" rIns="36576" tIns="18288" bIns="18288" anchor="t">
            <a:spAutoFit/>
          </a:bodyPr>
          <a:lstStyle/>
          <a:p>
            <a:pPr algn="l"/>
            <a:r>
              <a:rPr sz="2000" b="1">
                <a:solidFill>
                  <a:srgbClr val="8B5CF6"/>
                </a:solidFill>
                <a:latin typeface="Arial"/>
              </a:rPr>
              <a:t>2</a:t>
            </a:r>
          </a:p>
        </p:txBody>
      </p:sp>
      <p:sp>
        <p:nvSpPr>
          <p:cNvPr id="14" name="TextBox 13"/>
          <p:cNvSpPr txBox="1"/>
          <p:nvPr/>
        </p:nvSpPr>
        <p:spPr>
          <a:xfrm>
            <a:off x="3593592" y="2423160"/>
            <a:ext cx="2148840" cy="685800"/>
          </a:xfrm>
          <a:prstGeom prst="rect">
            <a:avLst/>
          </a:prstGeom>
          <a:noFill/>
        </p:spPr>
        <p:txBody>
          <a:bodyPr wrap="square" lIns="36576" rIns="36576" tIns="18288" bIns="18288" anchor="t">
            <a:spAutoFit/>
          </a:bodyPr>
          <a:lstStyle/>
          <a:p>
            <a:pPr algn="l"/>
            <a:r>
              <a:rPr sz="1500" b="1">
                <a:solidFill>
                  <a:srgbClr val="F1F5F9"/>
                </a:solidFill>
                <a:latin typeface="Arial"/>
              </a:rPr>
              <a:t>Root
cause</a:t>
            </a:r>
          </a:p>
        </p:txBody>
      </p:sp>
      <p:sp>
        <p:nvSpPr>
          <p:cNvPr id="15" name="TextBox 14"/>
          <p:cNvSpPr txBox="1"/>
          <p:nvPr/>
        </p:nvSpPr>
        <p:spPr>
          <a:xfrm>
            <a:off x="3593592" y="3154680"/>
            <a:ext cx="2148840" cy="274320"/>
          </a:xfrm>
          <a:prstGeom prst="rect">
            <a:avLst/>
          </a:prstGeom>
          <a:noFill/>
        </p:spPr>
        <p:txBody>
          <a:bodyPr wrap="square" lIns="36576" rIns="36576" tIns="18288" bIns="18288" anchor="t">
            <a:spAutoFit/>
          </a:bodyPr>
          <a:lstStyle/>
          <a:p>
            <a:pPr algn="l"/>
            <a:r>
              <a:rPr sz="1000" b="0">
                <a:solidFill>
                  <a:srgbClr val="94A3B8"/>
                </a:solidFill>
                <a:latin typeface="Arial"/>
              </a:rPr>
              <a:t>rootcause.md</a:t>
            </a:r>
          </a:p>
        </p:txBody>
      </p:sp>
      <p:cxnSp>
        <p:nvCxnSpPr>
          <p:cNvPr id="16" name="Connector 15"/>
          <p:cNvCxnSpPr/>
          <p:nvPr/>
        </p:nvCxnSpPr>
        <p:spPr>
          <a:xfrm>
            <a:off x="5879592" y="2743200"/>
            <a:ext cx="393191" cy="0"/>
          </a:xfrm>
          <a:prstGeom prst="line">
            <a:avLst/>
          </a:prstGeom>
          <a:ln w="28575">
            <a:solidFill>
              <a:srgbClr val="F871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833872" y="2331720"/>
            <a:ext cx="484632" cy="274320"/>
          </a:xfrm>
          <a:prstGeom prst="roundRect">
            <a:avLst>
              <a:gd name="adj" fmla="val 50000"/>
            </a:avLst>
          </a:prstGeom>
          <a:no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833872" y="2331720"/>
            <a:ext cx="484632" cy="274320"/>
          </a:xfrm>
          <a:prstGeom prst="rect">
            <a:avLst/>
          </a:prstGeom>
          <a:noFill/>
        </p:spPr>
        <p:txBody>
          <a:bodyPr wrap="square" lIns="36576" rIns="36576" tIns="18288" bIns="18288" anchor="ctr">
            <a:spAutoFit/>
          </a:bodyPr>
          <a:lstStyle/>
          <a:p>
            <a:pPr algn="ctr"/>
            <a:r>
              <a:rPr sz="1000" b="1">
                <a:solidFill>
                  <a:srgbClr val="F87171"/>
                </a:solidFill>
                <a:latin typeface="Arial"/>
              </a:rPr>
              <a:t>G2</a:t>
            </a:r>
          </a:p>
        </p:txBody>
      </p:sp>
      <p:sp>
        <p:nvSpPr>
          <p:cNvPr id="19" name="Rounded Rectangle 18"/>
          <p:cNvSpPr/>
          <p:nvPr/>
        </p:nvSpPr>
        <p:spPr>
          <a:xfrm>
            <a:off x="6272784" y="1965960"/>
            <a:ext cx="2423160" cy="1600200"/>
          </a:xfrm>
          <a:prstGeom prst="roundRect">
            <a:avLst>
              <a:gd name="adj" fmla="val 8000"/>
            </a:avLst>
          </a:prstGeom>
          <a:solidFill>
            <a:srgbClr val="141824"/>
          </a:solidFill>
          <a:ln w="1905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09944" y="2011680"/>
            <a:ext cx="457200" cy="365760"/>
          </a:xfrm>
          <a:prstGeom prst="rect">
            <a:avLst/>
          </a:prstGeom>
          <a:noFill/>
        </p:spPr>
        <p:txBody>
          <a:bodyPr wrap="square" lIns="36576" rIns="36576" tIns="18288" bIns="18288" anchor="t">
            <a:spAutoFit/>
          </a:bodyPr>
          <a:lstStyle/>
          <a:p>
            <a:pPr algn="l"/>
            <a:r>
              <a:rPr sz="2000" b="1">
                <a:solidFill>
                  <a:srgbClr val="FBBF24"/>
                </a:solidFill>
                <a:latin typeface="Arial"/>
              </a:rPr>
              <a:t>3</a:t>
            </a:r>
          </a:p>
        </p:txBody>
      </p:sp>
      <p:sp>
        <p:nvSpPr>
          <p:cNvPr id="21" name="TextBox 20"/>
          <p:cNvSpPr txBox="1"/>
          <p:nvPr/>
        </p:nvSpPr>
        <p:spPr>
          <a:xfrm>
            <a:off x="6409944" y="2423160"/>
            <a:ext cx="2148840" cy="685800"/>
          </a:xfrm>
          <a:prstGeom prst="rect">
            <a:avLst/>
          </a:prstGeom>
          <a:noFill/>
        </p:spPr>
        <p:txBody>
          <a:bodyPr wrap="square" lIns="36576" rIns="36576" tIns="18288" bIns="18288" anchor="t">
            <a:spAutoFit/>
          </a:bodyPr>
          <a:lstStyle/>
          <a:p>
            <a:pPr algn="l"/>
            <a:r>
              <a:rPr sz="1500" b="1">
                <a:solidFill>
                  <a:srgbClr val="F1F5F9"/>
                </a:solidFill>
                <a:latin typeface="Arial"/>
              </a:rPr>
              <a:t>Reproduce
on unfixed code</a:t>
            </a:r>
          </a:p>
        </p:txBody>
      </p:sp>
      <p:sp>
        <p:nvSpPr>
          <p:cNvPr id="22" name="TextBox 21"/>
          <p:cNvSpPr txBox="1"/>
          <p:nvPr/>
        </p:nvSpPr>
        <p:spPr>
          <a:xfrm>
            <a:off x="6409944" y="3154680"/>
            <a:ext cx="2148840" cy="274320"/>
          </a:xfrm>
          <a:prstGeom prst="rect">
            <a:avLst/>
          </a:prstGeom>
          <a:noFill/>
        </p:spPr>
        <p:txBody>
          <a:bodyPr wrap="square" lIns="36576" rIns="36576" tIns="18288" bIns="18288" anchor="t">
            <a:spAutoFit/>
          </a:bodyPr>
          <a:lstStyle/>
          <a:p>
            <a:pPr algn="l"/>
            <a:r>
              <a:rPr sz="1000" b="0">
                <a:solidFill>
                  <a:srgbClr val="94A3B8"/>
                </a:solidFill>
                <a:latin typeface="Arial"/>
              </a:rPr>
              <a:t>repro.md</a:t>
            </a:r>
          </a:p>
        </p:txBody>
      </p:sp>
      <p:cxnSp>
        <p:nvCxnSpPr>
          <p:cNvPr id="23" name="Connector 22"/>
          <p:cNvCxnSpPr/>
          <p:nvPr/>
        </p:nvCxnSpPr>
        <p:spPr>
          <a:xfrm>
            <a:off x="8695944" y="2743200"/>
            <a:ext cx="393192" cy="0"/>
          </a:xfrm>
          <a:prstGeom prst="line">
            <a:avLst/>
          </a:prstGeom>
          <a:ln w="28575">
            <a:solidFill>
              <a:srgbClr val="F871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650224" y="2331720"/>
            <a:ext cx="484632" cy="274320"/>
          </a:xfrm>
          <a:prstGeom prst="roundRect">
            <a:avLst>
              <a:gd name="adj" fmla="val 50000"/>
            </a:avLst>
          </a:prstGeom>
          <a:no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650224" y="2331720"/>
            <a:ext cx="484632" cy="274320"/>
          </a:xfrm>
          <a:prstGeom prst="rect">
            <a:avLst/>
          </a:prstGeom>
          <a:noFill/>
        </p:spPr>
        <p:txBody>
          <a:bodyPr wrap="square" lIns="36576" rIns="36576" tIns="18288" bIns="18288" anchor="ctr">
            <a:spAutoFit/>
          </a:bodyPr>
          <a:lstStyle/>
          <a:p>
            <a:pPr algn="ctr"/>
            <a:r>
              <a:rPr sz="1000" b="1">
                <a:solidFill>
                  <a:srgbClr val="F87171"/>
                </a:solidFill>
                <a:latin typeface="Arial"/>
              </a:rPr>
              <a:t>G3</a:t>
            </a:r>
          </a:p>
        </p:txBody>
      </p:sp>
      <p:sp>
        <p:nvSpPr>
          <p:cNvPr id="26" name="Rounded Rectangle 25"/>
          <p:cNvSpPr/>
          <p:nvPr/>
        </p:nvSpPr>
        <p:spPr>
          <a:xfrm>
            <a:off x="9089136" y="1965960"/>
            <a:ext cx="2423160" cy="1600200"/>
          </a:xfrm>
          <a:prstGeom prst="roundRect">
            <a:avLst>
              <a:gd name="adj" fmla="val 8000"/>
            </a:avLst>
          </a:prstGeom>
          <a:solidFill>
            <a:srgbClr val="141824"/>
          </a:solidFill>
          <a:ln w="1905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226296" y="2011680"/>
            <a:ext cx="457200" cy="365760"/>
          </a:xfrm>
          <a:prstGeom prst="rect">
            <a:avLst/>
          </a:prstGeom>
          <a:noFill/>
        </p:spPr>
        <p:txBody>
          <a:bodyPr wrap="square" lIns="36576" rIns="36576" tIns="18288" bIns="18288" anchor="t">
            <a:spAutoFit/>
          </a:bodyPr>
          <a:lstStyle/>
          <a:p>
            <a:pPr algn="l"/>
            <a:r>
              <a:rPr sz="2000" b="1">
                <a:solidFill>
                  <a:srgbClr val="34D399"/>
                </a:solidFill>
                <a:latin typeface="Arial"/>
              </a:rPr>
              <a:t>4</a:t>
            </a:r>
          </a:p>
        </p:txBody>
      </p:sp>
      <p:sp>
        <p:nvSpPr>
          <p:cNvPr id="28" name="TextBox 27"/>
          <p:cNvSpPr txBox="1"/>
          <p:nvPr/>
        </p:nvSpPr>
        <p:spPr>
          <a:xfrm>
            <a:off x="9226296" y="2423160"/>
            <a:ext cx="2148840" cy="685800"/>
          </a:xfrm>
          <a:prstGeom prst="rect">
            <a:avLst/>
          </a:prstGeom>
          <a:noFill/>
        </p:spPr>
        <p:txBody>
          <a:bodyPr wrap="square" lIns="36576" rIns="36576" tIns="18288" bIns="18288" anchor="t">
            <a:spAutoFit/>
          </a:bodyPr>
          <a:lstStyle/>
          <a:p>
            <a:pPr algn="l"/>
            <a:r>
              <a:rPr sz="1500" b="1">
                <a:solidFill>
                  <a:srgbClr val="F1F5F9"/>
                </a:solidFill>
                <a:latin typeface="Arial"/>
              </a:rPr>
              <a:t>Fix and
open PR</a:t>
            </a:r>
          </a:p>
        </p:txBody>
      </p:sp>
      <p:sp>
        <p:nvSpPr>
          <p:cNvPr id="29" name="TextBox 28"/>
          <p:cNvSpPr txBox="1"/>
          <p:nvPr/>
        </p:nvSpPr>
        <p:spPr>
          <a:xfrm>
            <a:off x="9226296" y="3154680"/>
            <a:ext cx="2148840" cy="274320"/>
          </a:xfrm>
          <a:prstGeom prst="rect">
            <a:avLst/>
          </a:prstGeom>
          <a:noFill/>
        </p:spPr>
        <p:txBody>
          <a:bodyPr wrap="square" lIns="36576" rIns="36576" tIns="18288" bIns="18288" anchor="t">
            <a:spAutoFit/>
          </a:bodyPr>
          <a:lstStyle/>
          <a:p>
            <a:pPr algn="l"/>
            <a:r>
              <a:rPr sz="1000" b="0">
                <a:solidFill>
                  <a:srgbClr val="94A3B8"/>
                </a:solidFill>
                <a:latin typeface="Arial"/>
              </a:rPr>
              <a:t>fix.md</a:t>
            </a:r>
          </a:p>
        </p:txBody>
      </p:sp>
      <p:cxnSp>
        <p:nvCxnSpPr>
          <p:cNvPr id="30" name="Connector 29"/>
          <p:cNvCxnSpPr/>
          <p:nvPr/>
        </p:nvCxnSpPr>
        <p:spPr>
          <a:xfrm>
            <a:off x="10300715" y="3566160"/>
            <a:ext cx="0" cy="640080"/>
          </a:xfrm>
          <a:prstGeom prst="line">
            <a:avLst/>
          </a:prstGeom>
          <a:ln w="28575">
            <a:solidFill>
              <a:srgbClr val="F871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392155" y="3703320"/>
            <a:ext cx="502920" cy="274320"/>
          </a:xfrm>
          <a:prstGeom prst="roundRect">
            <a:avLst>
              <a:gd name="adj" fmla="val 50000"/>
            </a:avLst>
          </a:prstGeom>
          <a:no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392155" y="3703320"/>
            <a:ext cx="502920" cy="274320"/>
          </a:xfrm>
          <a:prstGeom prst="rect">
            <a:avLst/>
          </a:prstGeom>
          <a:noFill/>
        </p:spPr>
        <p:txBody>
          <a:bodyPr wrap="square" lIns="36576" rIns="36576" tIns="18288" bIns="18288" anchor="ctr">
            <a:spAutoFit/>
          </a:bodyPr>
          <a:lstStyle/>
          <a:p>
            <a:pPr algn="ctr"/>
            <a:r>
              <a:rPr sz="1000" b="1">
                <a:solidFill>
                  <a:srgbClr val="F87171"/>
                </a:solidFill>
                <a:latin typeface="Arial"/>
              </a:rPr>
              <a:t>G4</a:t>
            </a:r>
          </a:p>
        </p:txBody>
      </p:sp>
      <p:sp>
        <p:nvSpPr>
          <p:cNvPr id="33" name="TextBox 32"/>
          <p:cNvSpPr txBox="1"/>
          <p:nvPr/>
        </p:nvSpPr>
        <p:spPr>
          <a:xfrm>
            <a:off x="640080" y="3703320"/>
            <a:ext cx="8778240" cy="274320"/>
          </a:xfrm>
          <a:prstGeom prst="rect">
            <a:avLst/>
          </a:prstGeom>
          <a:noFill/>
        </p:spPr>
        <p:txBody>
          <a:bodyPr wrap="square" lIns="36576" rIns="36576" tIns="18288" bIns="18288" anchor="t">
            <a:spAutoFit/>
          </a:bodyPr>
          <a:lstStyle/>
          <a:p>
            <a:pPr algn="l"/>
            <a:r>
              <a:rPr sz="1100" b="0">
                <a:solidFill>
                  <a:srgbClr val="94A3B8"/>
                </a:solidFill>
                <a:latin typeface="Arial"/>
              </a:rPr>
              <a:t>Each gate is a mandatory human approval. Stage 3 falls back to Stage 2 if the hypothesis was wrong.</a:t>
            </a:r>
          </a:p>
        </p:txBody>
      </p:sp>
      <p:sp>
        <p:nvSpPr>
          <p:cNvPr id="34" name="Rounded Rectangle 33"/>
          <p:cNvSpPr/>
          <p:nvPr/>
        </p:nvSpPr>
        <p:spPr>
          <a:xfrm>
            <a:off x="640080" y="4206240"/>
            <a:ext cx="10881360" cy="822960"/>
          </a:xfrm>
          <a:prstGeom prst="roundRect">
            <a:avLst>
              <a:gd name="adj" fmla="val 8000"/>
            </a:avLst>
          </a:prstGeom>
          <a:solidFill>
            <a:srgbClr val="141824"/>
          </a:solidFill>
          <a:ln w="1905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68680" y="4251960"/>
            <a:ext cx="4572000" cy="274320"/>
          </a:xfrm>
          <a:prstGeom prst="rect">
            <a:avLst/>
          </a:prstGeom>
          <a:noFill/>
        </p:spPr>
        <p:txBody>
          <a:bodyPr wrap="square" lIns="36576" rIns="36576" tIns="18288" bIns="18288" anchor="t">
            <a:spAutoFit/>
          </a:bodyPr>
          <a:lstStyle/>
          <a:p>
            <a:pPr algn="l"/>
            <a:r>
              <a:rPr sz="1100" b="1">
                <a:solidFill>
                  <a:srgbClr val="34D399"/>
                </a:solidFill>
                <a:latin typeface="Arial"/>
              </a:rPr>
              <a:t>RUN DONE: PR LEFT OPEN</a:t>
            </a:r>
          </a:p>
        </p:txBody>
      </p:sp>
      <p:sp>
        <p:nvSpPr>
          <p:cNvPr id="36" name="TextBox 35"/>
          <p:cNvSpPr txBox="1"/>
          <p:nvPr/>
        </p:nvSpPr>
        <p:spPr>
          <a:xfrm>
            <a:off x="868680" y="4526280"/>
            <a:ext cx="10424160" cy="457200"/>
          </a:xfrm>
          <a:prstGeom prst="rect">
            <a:avLst/>
          </a:prstGeom>
          <a:noFill/>
        </p:spPr>
        <p:txBody>
          <a:bodyPr wrap="square" lIns="36576" rIns="36576" tIns="18288" bIns="18288" anchor="t">
            <a:spAutoFit/>
          </a:bodyPr>
          <a:lstStyle/>
          <a:p>
            <a:pPr algn="l"/>
            <a:r>
              <a:rPr sz="1400" b="0">
                <a:solidFill>
                  <a:srgbClr val="F1F5F9"/>
                </a:solidFill>
                <a:latin typeface="Arial"/>
              </a:rPr>
              <a:t>After Gate 4, merge_status: not_merged. A person reads the diff and the artifacts, then merges (or doesn't).</a:t>
            </a:r>
          </a:p>
        </p:txBody>
      </p:sp>
      <p:sp>
        <p:nvSpPr>
          <p:cNvPr id="37" name="Rounded Rectangle 36"/>
          <p:cNvSpPr/>
          <p:nvPr/>
        </p:nvSpPr>
        <p:spPr>
          <a:xfrm>
            <a:off x="640080" y="5257800"/>
            <a:ext cx="3474720" cy="960120"/>
          </a:xfrm>
          <a:prstGeom prst="roundRect">
            <a:avLst>
              <a:gd name="adj" fmla="val 8000"/>
            </a:avLst>
          </a:prstGeom>
          <a:solidFill>
            <a:srgbClr val="141824"/>
          </a:solidFill>
          <a:ln w="12700">
            <a:solidFill>
              <a:srgbClr val="2A314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22959" y="5321808"/>
            <a:ext cx="3108960" cy="365760"/>
          </a:xfrm>
          <a:prstGeom prst="rect">
            <a:avLst/>
          </a:prstGeom>
          <a:noFill/>
        </p:spPr>
        <p:txBody>
          <a:bodyPr wrap="square" lIns="36576" rIns="36576" tIns="18288" bIns="18288" anchor="t">
            <a:spAutoFit/>
          </a:bodyPr>
          <a:lstStyle/>
          <a:p>
            <a:pPr algn="l"/>
            <a:r>
              <a:rPr sz="1500" b="1">
                <a:solidFill>
                  <a:srgbClr val="F1F5F9"/>
                </a:solidFill>
                <a:latin typeface="Arial"/>
              </a:rPr>
              <a:t>No source edits before Gate 3</a:t>
            </a:r>
          </a:p>
        </p:txBody>
      </p:sp>
      <p:sp>
        <p:nvSpPr>
          <p:cNvPr id="39" name="TextBox 38"/>
          <p:cNvSpPr txBox="1"/>
          <p:nvPr/>
        </p:nvSpPr>
        <p:spPr>
          <a:xfrm>
            <a:off x="822959" y="5715000"/>
            <a:ext cx="3108960" cy="457200"/>
          </a:xfrm>
          <a:prstGeom prst="rect">
            <a:avLst/>
          </a:prstGeom>
          <a:noFill/>
        </p:spPr>
        <p:txBody>
          <a:bodyPr wrap="square" lIns="36576" rIns="36576" tIns="18288" bIns="18288" anchor="t">
            <a:spAutoFit/>
          </a:bodyPr>
          <a:lstStyle/>
          <a:p>
            <a:pPr algn="l"/>
            <a:r>
              <a:rPr sz="1200" b="0">
                <a:solidFill>
                  <a:srgbClr val="94A3B8"/>
                </a:solidFill>
                <a:latin typeface="Arial"/>
              </a:rPr>
              <a:t>Only tests and .pipeline/ files</a:t>
            </a:r>
          </a:p>
        </p:txBody>
      </p:sp>
      <p:sp>
        <p:nvSpPr>
          <p:cNvPr id="40" name="Rounded Rectangle 39"/>
          <p:cNvSpPr/>
          <p:nvPr/>
        </p:nvSpPr>
        <p:spPr>
          <a:xfrm>
            <a:off x="4389120" y="5257800"/>
            <a:ext cx="3474720" cy="960120"/>
          </a:xfrm>
          <a:prstGeom prst="roundRect">
            <a:avLst>
              <a:gd name="adj" fmla="val 8000"/>
            </a:avLst>
          </a:prstGeom>
          <a:solidFill>
            <a:srgbClr val="141824"/>
          </a:solidFill>
          <a:ln w="12700">
            <a:solidFill>
              <a:srgbClr val="2A314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4572000" y="5321808"/>
            <a:ext cx="3108960" cy="365760"/>
          </a:xfrm>
          <a:prstGeom prst="rect">
            <a:avLst/>
          </a:prstGeom>
          <a:noFill/>
        </p:spPr>
        <p:txBody>
          <a:bodyPr wrap="square" lIns="36576" rIns="36576" tIns="18288" bIns="18288" anchor="t">
            <a:spAutoFit/>
          </a:bodyPr>
          <a:lstStyle/>
          <a:p>
            <a:pPr algn="l"/>
            <a:r>
              <a:rPr sz="1500" b="1">
                <a:solidFill>
                  <a:srgbClr val="F1F5F9"/>
                </a:solidFill>
                <a:latin typeface="Arial"/>
              </a:rPr>
              <a:t>Scope fence</a:t>
            </a:r>
          </a:p>
        </p:txBody>
      </p:sp>
      <p:sp>
        <p:nvSpPr>
          <p:cNvPr id="42" name="TextBox 41"/>
          <p:cNvSpPr txBox="1"/>
          <p:nvPr/>
        </p:nvSpPr>
        <p:spPr>
          <a:xfrm>
            <a:off x="4572000" y="5715000"/>
            <a:ext cx="3108960" cy="457200"/>
          </a:xfrm>
          <a:prstGeom prst="rect">
            <a:avLst/>
          </a:prstGeom>
          <a:noFill/>
        </p:spPr>
        <p:txBody>
          <a:bodyPr wrap="square" lIns="36576" rIns="36576" tIns="18288" bIns="18288" anchor="t">
            <a:spAutoFit/>
          </a:bodyPr>
          <a:lstStyle/>
          <a:p>
            <a:pPr algn="l"/>
            <a:r>
              <a:rPr sz="1200" b="0">
                <a:solidFill>
                  <a:srgbClr val="94A3B8"/>
                </a:solidFill>
                <a:latin typeface="Arial"/>
              </a:rPr>
              <a:t>Fixed at Gate 2; widening re-opens it</a:t>
            </a:r>
          </a:p>
        </p:txBody>
      </p:sp>
      <p:sp>
        <p:nvSpPr>
          <p:cNvPr id="43" name="Rounded Rectangle 42"/>
          <p:cNvSpPr/>
          <p:nvPr/>
        </p:nvSpPr>
        <p:spPr>
          <a:xfrm>
            <a:off x="8138159" y="5257800"/>
            <a:ext cx="3474720" cy="960120"/>
          </a:xfrm>
          <a:prstGeom prst="roundRect">
            <a:avLst>
              <a:gd name="adj" fmla="val 8000"/>
            </a:avLst>
          </a:prstGeom>
          <a:solidFill>
            <a:srgbClr val="141824"/>
          </a:solidFill>
          <a:ln w="12700">
            <a:solidFill>
              <a:srgbClr val="2A314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321039" y="5321808"/>
            <a:ext cx="3108960" cy="365760"/>
          </a:xfrm>
          <a:prstGeom prst="rect">
            <a:avLst/>
          </a:prstGeom>
          <a:noFill/>
        </p:spPr>
        <p:txBody>
          <a:bodyPr wrap="square" lIns="36576" rIns="36576" tIns="18288" bIns="18288" anchor="t">
            <a:spAutoFit/>
          </a:bodyPr>
          <a:lstStyle/>
          <a:p>
            <a:pPr algn="l"/>
            <a:r>
              <a:rPr sz="1500" b="1">
                <a:solidFill>
                  <a:srgbClr val="F1F5F9"/>
                </a:solidFill>
                <a:latin typeface="Arial"/>
              </a:rPr>
              <a:t>Never merges</a:t>
            </a:r>
          </a:p>
        </p:txBody>
      </p:sp>
      <p:sp>
        <p:nvSpPr>
          <p:cNvPr id="45" name="TextBox 44"/>
          <p:cNvSpPr txBox="1"/>
          <p:nvPr/>
        </p:nvSpPr>
        <p:spPr>
          <a:xfrm>
            <a:off x="8321039" y="5715000"/>
            <a:ext cx="3108960" cy="457200"/>
          </a:xfrm>
          <a:prstGeom prst="rect">
            <a:avLst/>
          </a:prstGeom>
          <a:noFill/>
        </p:spPr>
        <p:txBody>
          <a:bodyPr wrap="square" lIns="36576" rIns="36576" tIns="18288" bIns="18288" anchor="t">
            <a:spAutoFit/>
          </a:bodyPr>
          <a:lstStyle/>
          <a:p>
            <a:pPr algn="l"/>
            <a:r>
              <a:rPr sz="1200" b="0">
                <a:solidFill>
                  <a:srgbClr val="94A3B8"/>
                </a:solidFill>
                <a:latin typeface="Arial"/>
              </a:rPr>
              <a:t>Agent may not run gh pr merge</a:t>
            </a:r>
          </a:p>
        </p:txBody>
      </p:sp>
      <p:sp>
        <p:nvSpPr>
          <p:cNvPr id="46" name="TextBox 45"/>
          <p:cNvSpPr txBox="1"/>
          <p:nvPr/>
        </p:nvSpPr>
        <p:spPr>
          <a:xfrm>
            <a:off x="640080" y="6446520"/>
            <a:ext cx="5486400" cy="274320"/>
          </a:xfrm>
          <a:prstGeom prst="rect">
            <a:avLst/>
          </a:prstGeom>
          <a:noFill/>
        </p:spPr>
        <p:txBody>
          <a:bodyPr wrap="square" lIns="36576" rIns="36576" tIns="18288" bIns="18288" anchor="t">
            <a:spAutoFit/>
          </a:bodyPr>
          <a:lstStyle/>
          <a:p>
            <a:pPr algn="l"/>
            <a:r>
              <a:rPr sz="1000" b="0">
                <a:solidFill>
                  <a:srgbClr val="94A3B8"/>
                </a:solidFill>
                <a:latin typeface="Arial"/>
              </a:rPr>
              <a:t>CodeGraph  |  Hackathon</a:t>
            </a:r>
          </a:p>
        </p:txBody>
      </p:sp>
      <p:sp>
        <p:nvSpPr>
          <p:cNvPr id="47" name="TextBox 46"/>
          <p:cNvSpPr txBox="1"/>
          <p:nvPr/>
        </p:nvSpPr>
        <p:spPr>
          <a:xfrm>
            <a:off x="10820095" y="6446520"/>
            <a:ext cx="731520" cy="274320"/>
          </a:xfrm>
          <a:prstGeom prst="rect">
            <a:avLst/>
          </a:prstGeom>
          <a:noFill/>
        </p:spPr>
        <p:txBody>
          <a:bodyPr wrap="square" lIns="36576" rIns="36576" tIns="18288" bIns="18288" anchor="t">
            <a:spAutoFit/>
          </a:bodyPr>
          <a:lstStyle/>
          <a:p>
            <a:pPr algn="r"/>
            <a:r>
              <a:rPr sz="1000" b="0">
                <a:solidFill>
                  <a:srgbClr val="94A3B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lIns="36576" rIns="36576" tIns="18288" bIns="18288" anchor="t">
            <a:spAutoFit/>
          </a:bodyPr>
          <a:lstStyle/>
          <a:p>
            <a:pPr algn="l"/>
            <a:r>
              <a:rPr sz="1200" b="1">
                <a:solidFill>
                  <a:srgbClr val="34D399"/>
                </a:solidFill>
                <a:latin typeface="Arial"/>
              </a:rPr>
              <a:t>WHAT MAKES IT DIFFERENT</a:t>
            </a:r>
          </a:p>
        </p:txBody>
      </p:sp>
      <p:sp>
        <p:nvSpPr>
          <p:cNvPr id="3" name="TextBox 2"/>
          <p:cNvSpPr txBox="1"/>
          <p:nvPr/>
        </p:nvSpPr>
        <p:spPr>
          <a:xfrm>
            <a:off x="640080" y="731520"/>
            <a:ext cx="10881360" cy="822960"/>
          </a:xfrm>
          <a:prstGeom prst="rect">
            <a:avLst/>
          </a:prstGeom>
          <a:noFill/>
        </p:spPr>
        <p:txBody>
          <a:bodyPr wrap="square" lIns="36576" rIns="36576" tIns="18288" bIns="18288" anchor="t">
            <a:spAutoFit/>
          </a:bodyPr>
          <a:lstStyle/>
          <a:p>
            <a:pPr algn="l"/>
            <a:r>
              <a:rPr sz="3200" b="1">
                <a:solidFill>
                  <a:srgbClr val="F1F5F9"/>
                </a:solidFill>
                <a:latin typeface="Arial"/>
              </a:rPr>
              <a:t>Not just "ask an agent to fix it"</a:t>
            </a:r>
          </a:p>
        </p:txBody>
      </p:sp>
      <p:sp>
        <p:nvSpPr>
          <p:cNvPr id="4" name="Rectangle 3"/>
          <p:cNvSpPr/>
          <p:nvPr/>
        </p:nvSpPr>
        <p:spPr>
          <a:xfrm>
            <a:off x="676656" y="1481328"/>
            <a:ext cx="822960"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640080" y="1828800"/>
            <a:ext cx="3474720" cy="1920240"/>
          </a:xfrm>
          <a:prstGeom prst="roundRect">
            <a:avLst>
              <a:gd name="adj" fmla="val 8000"/>
            </a:avLst>
          </a:prstGeom>
          <a:solidFill>
            <a:srgbClr val="141824"/>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640080" y="2057400"/>
            <a:ext cx="82296" cy="4572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2011680"/>
            <a:ext cx="3063240" cy="640080"/>
          </a:xfrm>
          <a:prstGeom prst="rect">
            <a:avLst/>
          </a:prstGeom>
          <a:noFill/>
        </p:spPr>
        <p:txBody>
          <a:bodyPr wrap="square" lIns="36576" rIns="36576" tIns="18288" bIns="18288" anchor="t">
            <a:spAutoFit/>
          </a:bodyPr>
          <a:lstStyle/>
          <a:p>
            <a:pPr algn="l"/>
            <a:r>
              <a:rPr sz="1700" b="1">
                <a:solidFill>
                  <a:srgbClr val="F1F5F9"/>
                </a:solidFill>
                <a:latin typeface="Arial"/>
              </a:rPr>
              <a:t>Test-first and falsifiable</a:t>
            </a:r>
          </a:p>
        </p:txBody>
      </p:sp>
      <p:sp>
        <p:nvSpPr>
          <p:cNvPr id="8" name="TextBox 7"/>
          <p:cNvSpPr txBox="1"/>
          <p:nvPr/>
        </p:nvSpPr>
        <p:spPr>
          <a:xfrm>
            <a:off x="914400" y="2697480"/>
            <a:ext cx="3063240" cy="1005840"/>
          </a:xfrm>
          <a:prstGeom prst="rect">
            <a:avLst/>
          </a:prstGeom>
          <a:noFill/>
        </p:spPr>
        <p:txBody>
          <a:bodyPr wrap="square" lIns="36576" rIns="36576" tIns="18288" bIns="18288" anchor="t">
            <a:spAutoFit/>
          </a:bodyPr>
          <a:lstStyle/>
          <a:p>
            <a:pPr algn="l"/>
            <a:r>
              <a:rPr sz="1200" b="0">
                <a:solidFill>
                  <a:srgbClr val="94A3B8"/>
                </a:solidFill>
                <a:latin typeface="Arial"/>
              </a:rPr>
              <a:t>The root cause is a claim. A test that fails for the wrong reason sends the run back to Stage 2.</a:t>
            </a:r>
          </a:p>
        </p:txBody>
      </p:sp>
      <p:sp>
        <p:nvSpPr>
          <p:cNvPr id="9" name="Rounded Rectangle 8"/>
          <p:cNvSpPr/>
          <p:nvPr/>
        </p:nvSpPr>
        <p:spPr>
          <a:xfrm>
            <a:off x="4389120" y="1828800"/>
            <a:ext cx="3474720" cy="1920240"/>
          </a:xfrm>
          <a:prstGeom prst="roundRect">
            <a:avLst>
              <a:gd name="adj" fmla="val 8000"/>
            </a:avLst>
          </a:prstGeom>
          <a:solidFill>
            <a:srgbClr val="141824"/>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389120" y="2057400"/>
            <a:ext cx="82296" cy="4572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663440" y="2011680"/>
            <a:ext cx="3063240" cy="640080"/>
          </a:xfrm>
          <a:prstGeom prst="rect">
            <a:avLst/>
          </a:prstGeom>
          <a:noFill/>
        </p:spPr>
        <p:txBody>
          <a:bodyPr wrap="square" lIns="36576" rIns="36576" tIns="18288" bIns="18288" anchor="t">
            <a:spAutoFit/>
          </a:bodyPr>
          <a:lstStyle/>
          <a:p>
            <a:pPr algn="l"/>
            <a:r>
              <a:rPr sz="1700" b="1">
                <a:solidFill>
                  <a:srgbClr val="F1F5F9"/>
                </a:solidFill>
                <a:latin typeface="Arial"/>
              </a:rPr>
              <a:t>Preservation from the graph</a:t>
            </a:r>
          </a:p>
        </p:txBody>
      </p:sp>
      <p:sp>
        <p:nvSpPr>
          <p:cNvPr id="12" name="TextBox 11"/>
          <p:cNvSpPr txBox="1"/>
          <p:nvPr/>
        </p:nvSpPr>
        <p:spPr>
          <a:xfrm>
            <a:off x="4663440" y="2697480"/>
            <a:ext cx="3063240" cy="1005840"/>
          </a:xfrm>
          <a:prstGeom prst="rect">
            <a:avLst/>
          </a:prstGeom>
          <a:noFill/>
        </p:spPr>
        <p:txBody>
          <a:bodyPr wrap="square" lIns="36576" rIns="36576" tIns="18288" bIns="18288" anchor="t">
            <a:spAutoFit/>
          </a:bodyPr>
          <a:lstStyle/>
          <a:p>
            <a:pPr algn="l"/>
            <a:r>
              <a:rPr sz="1200" b="0">
                <a:solidFill>
                  <a:srgbClr val="94A3B8"/>
                </a:solidFill>
                <a:latin typeface="Arial"/>
              </a:rPr>
              <a:t>Blast radius, including consumers in other repos, decides what must not change.</a:t>
            </a:r>
          </a:p>
        </p:txBody>
      </p:sp>
      <p:sp>
        <p:nvSpPr>
          <p:cNvPr id="13" name="Rounded Rectangle 12"/>
          <p:cNvSpPr/>
          <p:nvPr/>
        </p:nvSpPr>
        <p:spPr>
          <a:xfrm>
            <a:off x="8138159" y="1828800"/>
            <a:ext cx="3474720" cy="1920240"/>
          </a:xfrm>
          <a:prstGeom prst="roundRect">
            <a:avLst>
              <a:gd name="adj" fmla="val 8000"/>
            </a:avLst>
          </a:prstGeom>
          <a:solidFill>
            <a:srgbClr val="141824"/>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138159" y="2057400"/>
            <a:ext cx="82296" cy="457200"/>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80" y="2011680"/>
            <a:ext cx="3063240" cy="640080"/>
          </a:xfrm>
          <a:prstGeom prst="rect">
            <a:avLst/>
          </a:prstGeom>
          <a:noFill/>
        </p:spPr>
        <p:txBody>
          <a:bodyPr wrap="square" lIns="36576" rIns="36576" tIns="18288" bIns="18288" anchor="t">
            <a:spAutoFit/>
          </a:bodyPr>
          <a:lstStyle/>
          <a:p>
            <a:pPr algn="l"/>
            <a:r>
              <a:rPr sz="1700" b="1">
                <a:solidFill>
                  <a:srgbClr val="F1F5F9"/>
                </a:solidFill>
                <a:latin typeface="Arial"/>
              </a:rPr>
              <a:t>Every gate is mandatory</a:t>
            </a:r>
          </a:p>
        </p:txBody>
      </p:sp>
      <p:sp>
        <p:nvSpPr>
          <p:cNvPr id="16" name="TextBox 15"/>
          <p:cNvSpPr txBox="1"/>
          <p:nvPr/>
        </p:nvSpPr>
        <p:spPr>
          <a:xfrm>
            <a:off x="8412480" y="2697480"/>
            <a:ext cx="3063240" cy="1005840"/>
          </a:xfrm>
          <a:prstGeom prst="rect">
            <a:avLst/>
          </a:prstGeom>
          <a:noFill/>
        </p:spPr>
        <p:txBody>
          <a:bodyPr wrap="square" lIns="36576" rIns="36576" tIns="18288" bIns="18288" anchor="t">
            <a:spAutoFit/>
          </a:bodyPr>
          <a:lstStyle/>
          <a:p>
            <a:pPr algn="l"/>
            <a:r>
              <a:rPr sz="1200" b="0">
                <a:solidFill>
                  <a:srgbClr val="94A3B8"/>
                </a:solidFill>
                <a:latin typeface="Arial"/>
              </a:rPr>
              <a:t>Silence or a blanket "looks fine" is not approval. Rejection loops back.</a:t>
            </a:r>
          </a:p>
        </p:txBody>
      </p:sp>
      <p:sp>
        <p:nvSpPr>
          <p:cNvPr id="17" name="Rounded Rectangle 16"/>
          <p:cNvSpPr/>
          <p:nvPr/>
        </p:nvSpPr>
        <p:spPr>
          <a:xfrm>
            <a:off x="640080" y="3977639"/>
            <a:ext cx="3474720" cy="1920240"/>
          </a:xfrm>
          <a:prstGeom prst="roundRect">
            <a:avLst>
              <a:gd name="adj" fmla="val 8000"/>
            </a:avLst>
          </a:prstGeom>
          <a:solidFill>
            <a:srgbClr val="141824"/>
          </a:solidFill>
          <a:ln w="1270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40080" y="4206240"/>
            <a:ext cx="82296" cy="45720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14400" y="4160520"/>
            <a:ext cx="3063240" cy="640080"/>
          </a:xfrm>
          <a:prstGeom prst="rect">
            <a:avLst/>
          </a:prstGeom>
          <a:noFill/>
        </p:spPr>
        <p:txBody>
          <a:bodyPr wrap="square" lIns="36576" rIns="36576" tIns="18288" bIns="18288" anchor="t">
            <a:spAutoFit/>
          </a:bodyPr>
          <a:lstStyle/>
          <a:p>
            <a:pPr algn="l"/>
            <a:r>
              <a:rPr sz="1700" b="1">
                <a:solidFill>
                  <a:srgbClr val="F1F5F9"/>
                </a:solidFill>
                <a:latin typeface="Arial"/>
              </a:rPr>
              <a:t>Scope fence</a:t>
            </a:r>
          </a:p>
        </p:txBody>
      </p:sp>
      <p:sp>
        <p:nvSpPr>
          <p:cNvPr id="20" name="TextBox 19"/>
          <p:cNvSpPr txBox="1"/>
          <p:nvPr/>
        </p:nvSpPr>
        <p:spPr>
          <a:xfrm>
            <a:off x="914400" y="4846320"/>
            <a:ext cx="3063240" cy="1005840"/>
          </a:xfrm>
          <a:prstGeom prst="rect">
            <a:avLst/>
          </a:prstGeom>
          <a:noFill/>
        </p:spPr>
        <p:txBody>
          <a:bodyPr wrap="square" lIns="36576" rIns="36576" tIns="18288" bIns="18288" anchor="t">
            <a:spAutoFit/>
          </a:bodyPr>
          <a:lstStyle/>
          <a:p>
            <a:pPr algn="l"/>
            <a:r>
              <a:rPr sz="1200" b="0">
                <a:solidFill>
                  <a:srgbClr val="94A3B8"/>
                </a:solidFill>
                <a:latin typeface="Arial"/>
              </a:rPr>
              <a:t>Gate 2 fixes which files and functions may change. Leaving it means re-approval.</a:t>
            </a:r>
          </a:p>
        </p:txBody>
      </p:sp>
      <p:sp>
        <p:nvSpPr>
          <p:cNvPr id="21" name="Rounded Rectangle 20"/>
          <p:cNvSpPr/>
          <p:nvPr/>
        </p:nvSpPr>
        <p:spPr>
          <a:xfrm>
            <a:off x="4389120" y="3977639"/>
            <a:ext cx="3474720" cy="1920240"/>
          </a:xfrm>
          <a:prstGeom prst="roundRect">
            <a:avLst>
              <a:gd name="adj" fmla="val 8000"/>
            </a:avLst>
          </a:prstGeom>
          <a:solidFill>
            <a:srgbClr val="141824"/>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389120" y="4206240"/>
            <a:ext cx="82296" cy="4572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663440" y="4160520"/>
            <a:ext cx="3063240" cy="640080"/>
          </a:xfrm>
          <a:prstGeom prst="rect">
            <a:avLst/>
          </a:prstGeom>
          <a:noFill/>
        </p:spPr>
        <p:txBody>
          <a:bodyPr wrap="square" lIns="36576" rIns="36576" tIns="18288" bIns="18288" anchor="t">
            <a:spAutoFit/>
          </a:bodyPr>
          <a:lstStyle/>
          <a:p>
            <a:pPr algn="l"/>
            <a:r>
              <a:rPr sz="1700" b="1">
                <a:solidFill>
                  <a:srgbClr val="F1F5F9"/>
                </a:solidFill>
                <a:latin typeface="Arial"/>
              </a:rPr>
              <a:t>"No test" is stated, never silent</a:t>
            </a:r>
          </a:p>
        </p:txBody>
      </p:sp>
      <p:sp>
        <p:nvSpPr>
          <p:cNvPr id="24" name="TextBox 23"/>
          <p:cNvSpPr txBox="1"/>
          <p:nvPr/>
        </p:nvSpPr>
        <p:spPr>
          <a:xfrm>
            <a:off x="4663440" y="4846320"/>
            <a:ext cx="3063240" cy="1005840"/>
          </a:xfrm>
          <a:prstGeom prst="rect">
            <a:avLst/>
          </a:prstGeom>
          <a:noFill/>
        </p:spPr>
        <p:txBody>
          <a:bodyPr wrap="square" lIns="36576" rIns="36576" tIns="18288" bIns="18288" anchor="t">
            <a:spAutoFit/>
          </a:bodyPr>
          <a:lstStyle/>
          <a:p>
            <a:pPr algn="l"/>
            <a:r>
              <a:rPr sz="1200" b="0">
                <a:solidFill>
                  <a:srgbClr val="94A3B8"/>
                </a:solidFill>
                <a:latin typeface="Arial"/>
              </a:rPr>
              <a:t>For races or env-only bugs, repro.md gives the reason and manual steps.</a:t>
            </a:r>
          </a:p>
        </p:txBody>
      </p:sp>
      <p:sp>
        <p:nvSpPr>
          <p:cNvPr id="25" name="Rounded Rectangle 24"/>
          <p:cNvSpPr/>
          <p:nvPr/>
        </p:nvSpPr>
        <p:spPr>
          <a:xfrm>
            <a:off x="8138159" y="3977639"/>
            <a:ext cx="3474720" cy="1920240"/>
          </a:xfrm>
          <a:prstGeom prst="roundRect">
            <a:avLst>
              <a:gd name="adj" fmla="val 8000"/>
            </a:avLst>
          </a:prstGeom>
          <a:solidFill>
            <a:srgbClr val="141824"/>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138159" y="4206240"/>
            <a:ext cx="82296" cy="4572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412480" y="4160520"/>
            <a:ext cx="3063240" cy="640080"/>
          </a:xfrm>
          <a:prstGeom prst="rect">
            <a:avLst/>
          </a:prstGeom>
          <a:noFill/>
        </p:spPr>
        <p:txBody>
          <a:bodyPr wrap="square" lIns="36576" rIns="36576" tIns="18288" bIns="18288" anchor="t">
            <a:spAutoFit/>
          </a:bodyPr>
          <a:lstStyle/>
          <a:p>
            <a:pPr algn="l"/>
            <a:r>
              <a:rPr sz="1700" b="1">
                <a:solidFill>
                  <a:srgbClr val="F1F5F9"/>
                </a:solidFill>
                <a:latin typeface="Arial"/>
              </a:rPr>
              <a:t>Runs survive restarts</a:t>
            </a:r>
          </a:p>
        </p:txBody>
      </p:sp>
      <p:sp>
        <p:nvSpPr>
          <p:cNvPr id="28" name="TextBox 27"/>
          <p:cNvSpPr txBox="1"/>
          <p:nvPr/>
        </p:nvSpPr>
        <p:spPr>
          <a:xfrm>
            <a:off x="8412480" y="4846320"/>
            <a:ext cx="3063240" cy="1005840"/>
          </a:xfrm>
          <a:prstGeom prst="rect">
            <a:avLst/>
          </a:prstGeom>
          <a:noFill/>
        </p:spPr>
        <p:txBody>
          <a:bodyPr wrap="square" lIns="36576" rIns="36576" tIns="18288" bIns="18288" anchor="t">
            <a:spAutoFit/>
          </a:bodyPr>
          <a:lstStyle/>
          <a:p>
            <a:pPr algn="l"/>
            <a:r>
              <a:rPr sz="1200" b="0">
                <a:solidFill>
                  <a:srgbClr val="94A3B8"/>
                </a:solidFill>
                <a:latin typeface="Arial"/>
              </a:rPr>
              <a:t>state.json is the single source of truth. The same agent resumes by id.</a:t>
            </a:r>
          </a:p>
        </p:txBody>
      </p:sp>
      <p:sp>
        <p:nvSpPr>
          <p:cNvPr id="29" name="TextBox 28"/>
          <p:cNvSpPr txBox="1"/>
          <p:nvPr/>
        </p:nvSpPr>
        <p:spPr>
          <a:xfrm>
            <a:off x="640080" y="6446520"/>
            <a:ext cx="5486400" cy="274320"/>
          </a:xfrm>
          <a:prstGeom prst="rect">
            <a:avLst/>
          </a:prstGeom>
          <a:noFill/>
        </p:spPr>
        <p:txBody>
          <a:bodyPr wrap="square" lIns="36576" rIns="36576" tIns="18288" bIns="18288" anchor="t">
            <a:spAutoFit/>
          </a:bodyPr>
          <a:lstStyle/>
          <a:p>
            <a:pPr algn="l"/>
            <a:r>
              <a:rPr sz="1000" b="0">
                <a:solidFill>
                  <a:srgbClr val="94A3B8"/>
                </a:solidFill>
                <a:latin typeface="Arial"/>
              </a:rPr>
              <a:t>CodeGraph  |  Hackathon</a:t>
            </a:r>
          </a:p>
        </p:txBody>
      </p:sp>
      <p:sp>
        <p:nvSpPr>
          <p:cNvPr id="30" name="TextBox 29"/>
          <p:cNvSpPr txBox="1"/>
          <p:nvPr/>
        </p:nvSpPr>
        <p:spPr>
          <a:xfrm>
            <a:off x="10820095" y="6446520"/>
            <a:ext cx="731520" cy="274320"/>
          </a:xfrm>
          <a:prstGeom prst="rect">
            <a:avLst/>
          </a:prstGeom>
          <a:noFill/>
        </p:spPr>
        <p:txBody>
          <a:bodyPr wrap="square" lIns="36576" rIns="36576" tIns="18288" bIns="18288" anchor="t">
            <a:spAutoFit/>
          </a:bodyPr>
          <a:lstStyle/>
          <a:p>
            <a:pPr algn="r"/>
            <a:r>
              <a:rPr sz="1000" b="0">
                <a:solidFill>
                  <a:srgbClr val="94A3B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lIns="36576" rIns="36576" tIns="18288" bIns="18288" anchor="t">
            <a:spAutoFit/>
          </a:bodyPr>
          <a:lstStyle/>
          <a:p>
            <a:pPr algn="l"/>
            <a:r>
              <a:rPr sz="1200" b="1">
                <a:solidFill>
                  <a:srgbClr val="F87171"/>
                </a:solidFill>
                <a:latin typeface="Arial"/>
              </a:rPr>
              <a:t>SAFETY MODEL</a:t>
            </a:r>
          </a:p>
        </p:txBody>
      </p:sp>
      <p:sp>
        <p:nvSpPr>
          <p:cNvPr id="3" name="TextBox 2"/>
          <p:cNvSpPr txBox="1"/>
          <p:nvPr/>
        </p:nvSpPr>
        <p:spPr>
          <a:xfrm>
            <a:off x="640080" y="731520"/>
            <a:ext cx="10881360" cy="822960"/>
          </a:xfrm>
          <a:prstGeom prst="rect">
            <a:avLst/>
          </a:prstGeom>
          <a:noFill/>
        </p:spPr>
        <p:txBody>
          <a:bodyPr wrap="square" lIns="36576" rIns="36576" tIns="18288" bIns="18288" anchor="t">
            <a:spAutoFit/>
          </a:bodyPr>
          <a:lstStyle/>
          <a:p>
            <a:pPr algn="l"/>
            <a:r>
              <a:rPr sz="3200" b="1">
                <a:solidFill>
                  <a:srgbClr val="F1F5F9"/>
                </a:solidFill>
                <a:latin typeface="Arial"/>
              </a:rPr>
              <a:t>A human keeps the last word on every change</a:t>
            </a:r>
          </a:p>
        </p:txBody>
      </p:sp>
      <p:sp>
        <p:nvSpPr>
          <p:cNvPr id="4" name="Rectangle 3"/>
          <p:cNvSpPr/>
          <p:nvPr/>
        </p:nvSpPr>
        <p:spPr>
          <a:xfrm>
            <a:off x="676656" y="1481328"/>
            <a:ext cx="822960" cy="45720"/>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783080"/>
            <a:ext cx="2743200" cy="274320"/>
          </a:xfrm>
          <a:prstGeom prst="rect">
            <a:avLst/>
          </a:prstGeom>
          <a:noFill/>
        </p:spPr>
        <p:txBody>
          <a:bodyPr wrap="square" lIns="36576" rIns="36576" tIns="18288" bIns="18288" anchor="t">
            <a:spAutoFit/>
          </a:bodyPr>
          <a:lstStyle/>
          <a:p>
            <a:pPr algn="l"/>
            <a:r>
              <a:rPr sz="1100" b="1">
                <a:solidFill>
                  <a:srgbClr val="94A3B8"/>
                </a:solidFill>
                <a:latin typeface="Arial"/>
              </a:rPr>
              <a:t>WORKFLOW</a:t>
            </a:r>
          </a:p>
        </p:txBody>
      </p:sp>
      <p:sp>
        <p:nvSpPr>
          <p:cNvPr id="6" name="TextBox 5"/>
          <p:cNvSpPr txBox="1"/>
          <p:nvPr/>
        </p:nvSpPr>
        <p:spPr>
          <a:xfrm>
            <a:off x="2926080" y="1783080"/>
            <a:ext cx="2743200" cy="274320"/>
          </a:xfrm>
          <a:prstGeom prst="rect">
            <a:avLst/>
          </a:prstGeom>
          <a:noFill/>
        </p:spPr>
        <p:txBody>
          <a:bodyPr wrap="square" lIns="36576" rIns="36576" tIns="18288" bIns="18288" anchor="t">
            <a:spAutoFit/>
          </a:bodyPr>
          <a:lstStyle/>
          <a:p>
            <a:pPr algn="l"/>
            <a:r>
              <a:rPr sz="1100" b="1">
                <a:solidFill>
                  <a:srgbClr val="94A3B8"/>
                </a:solidFill>
                <a:latin typeface="Arial"/>
              </a:rPr>
              <a:t>CAN IT CHANGE CODE?</a:t>
            </a:r>
          </a:p>
        </p:txBody>
      </p:sp>
      <p:sp>
        <p:nvSpPr>
          <p:cNvPr id="7" name="TextBox 6"/>
          <p:cNvSpPr txBox="1"/>
          <p:nvPr/>
        </p:nvSpPr>
        <p:spPr>
          <a:xfrm>
            <a:off x="5486400" y="1783080"/>
            <a:ext cx="2743200" cy="274320"/>
          </a:xfrm>
          <a:prstGeom prst="rect">
            <a:avLst/>
          </a:prstGeom>
          <a:noFill/>
        </p:spPr>
        <p:txBody>
          <a:bodyPr wrap="square" lIns="36576" rIns="36576" tIns="18288" bIns="18288" anchor="t">
            <a:spAutoFit/>
          </a:bodyPr>
          <a:lstStyle/>
          <a:p>
            <a:pPr algn="l"/>
            <a:r>
              <a:rPr sz="1100" b="1">
                <a:solidFill>
                  <a:srgbClr val="94A3B8"/>
                </a:solidFill>
                <a:latin typeface="Arial"/>
              </a:rPr>
              <a:t>GUARDRAIL</a:t>
            </a:r>
          </a:p>
        </p:txBody>
      </p:sp>
      <p:sp>
        <p:nvSpPr>
          <p:cNvPr id="8" name="Rounded Rectangle 7"/>
          <p:cNvSpPr/>
          <p:nvPr/>
        </p:nvSpPr>
        <p:spPr>
          <a:xfrm>
            <a:off x="640080" y="2103120"/>
            <a:ext cx="10881360" cy="914400"/>
          </a:xfrm>
          <a:prstGeom prst="roundRect">
            <a:avLst>
              <a:gd name="adj" fmla="val 8000"/>
            </a:avLst>
          </a:prstGeom>
          <a:solidFill>
            <a:srgbClr val="141824"/>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103120"/>
            <a:ext cx="2011680" cy="914400"/>
          </a:xfrm>
          <a:prstGeom prst="rect">
            <a:avLst/>
          </a:prstGeom>
          <a:noFill/>
        </p:spPr>
        <p:txBody>
          <a:bodyPr wrap="square" lIns="36576" rIns="36576" tIns="18288" bIns="18288" anchor="ctr">
            <a:spAutoFit/>
          </a:bodyPr>
          <a:lstStyle/>
          <a:p>
            <a:pPr algn="l"/>
            <a:r>
              <a:rPr sz="1800" b="1">
                <a:solidFill>
                  <a:srgbClr val="22D3EE"/>
                </a:solidFill>
                <a:latin typeface="Arial"/>
              </a:rPr>
              <a:t>View Graph</a:t>
            </a:r>
          </a:p>
        </p:txBody>
      </p:sp>
      <p:sp>
        <p:nvSpPr>
          <p:cNvPr id="10" name="TextBox 9"/>
          <p:cNvSpPr txBox="1"/>
          <p:nvPr/>
        </p:nvSpPr>
        <p:spPr>
          <a:xfrm>
            <a:off x="2926080" y="2103120"/>
            <a:ext cx="2377440" cy="914400"/>
          </a:xfrm>
          <a:prstGeom prst="rect">
            <a:avLst/>
          </a:prstGeom>
          <a:noFill/>
        </p:spPr>
        <p:txBody>
          <a:bodyPr wrap="square" lIns="36576" rIns="36576" tIns="18288" bIns="18288" anchor="ctr">
            <a:spAutoFit/>
          </a:bodyPr>
          <a:lstStyle/>
          <a:p>
            <a:pPr algn="l"/>
            <a:r>
              <a:rPr sz="1500" b="0">
                <a:solidFill>
                  <a:srgbClr val="F1F5F9"/>
                </a:solidFill>
                <a:latin typeface="Arial"/>
              </a:rPr>
              <a:t>No source edits</a:t>
            </a:r>
          </a:p>
        </p:txBody>
      </p:sp>
      <p:sp>
        <p:nvSpPr>
          <p:cNvPr id="11" name="TextBox 10"/>
          <p:cNvSpPr txBox="1"/>
          <p:nvPr/>
        </p:nvSpPr>
        <p:spPr>
          <a:xfrm>
            <a:off x="5486400" y="2103120"/>
            <a:ext cx="5852160" cy="914400"/>
          </a:xfrm>
          <a:prstGeom prst="rect">
            <a:avLst/>
          </a:prstGeom>
          <a:noFill/>
        </p:spPr>
        <p:txBody>
          <a:bodyPr wrap="square" lIns="36576" rIns="36576" tIns="18288" bIns="18288" anchor="ctr">
            <a:spAutoFit/>
          </a:bodyPr>
          <a:lstStyle/>
          <a:p>
            <a:pPr algn="l"/>
            <a:r>
              <a:rPr sz="1300" b="0">
                <a:solidFill>
                  <a:srgbClr val="94A3B8"/>
                </a:solidFill>
                <a:latin typeface="Arial"/>
              </a:rPr>
              <a:t>Read endpoints. Rebuild only rewrites the graph (fast-forward git pull).</a:t>
            </a:r>
          </a:p>
        </p:txBody>
      </p:sp>
      <p:sp>
        <p:nvSpPr>
          <p:cNvPr id="12" name="Rounded Rectangle 11"/>
          <p:cNvSpPr/>
          <p:nvPr/>
        </p:nvSpPr>
        <p:spPr>
          <a:xfrm>
            <a:off x="640080" y="3154679"/>
            <a:ext cx="10881360" cy="914400"/>
          </a:xfrm>
          <a:prstGeom prst="roundRect">
            <a:avLst>
              <a:gd name="adj" fmla="val 8000"/>
            </a:avLst>
          </a:prstGeom>
          <a:solidFill>
            <a:srgbClr val="141824"/>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68680" y="3154679"/>
            <a:ext cx="2011680" cy="914400"/>
          </a:xfrm>
          <a:prstGeom prst="rect">
            <a:avLst/>
          </a:prstGeom>
          <a:noFill/>
        </p:spPr>
        <p:txBody>
          <a:bodyPr wrap="square" lIns="36576" rIns="36576" tIns="18288" bIns="18288" anchor="ctr">
            <a:spAutoFit/>
          </a:bodyPr>
          <a:lstStyle/>
          <a:p>
            <a:pPr algn="l"/>
            <a:r>
              <a:rPr sz="1800" b="1">
                <a:solidFill>
                  <a:srgbClr val="8B5CF6"/>
                </a:solidFill>
                <a:latin typeface="Arial"/>
              </a:rPr>
              <a:t>Ask AI</a:t>
            </a:r>
          </a:p>
        </p:txBody>
      </p:sp>
      <p:sp>
        <p:nvSpPr>
          <p:cNvPr id="14" name="TextBox 13"/>
          <p:cNvSpPr txBox="1"/>
          <p:nvPr/>
        </p:nvSpPr>
        <p:spPr>
          <a:xfrm>
            <a:off x="2926080" y="3154679"/>
            <a:ext cx="2377440" cy="914400"/>
          </a:xfrm>
          <a:prstGeom prst="rect">
            <a:avLst/>
          </a:prstGeom>
          <a:noFill/>
        </p:spPr>
        <p:txBody>
          <a:bodyPr wrap="square" lIns="36576" rIns="36576" tIns="18288" bIns="18288" anchor="ctr">
            <a:spAutoFit/>
          </a:bodyPr>
          <a:lstStyle/>
          <a:p>
            <a:pPr algn="l"/>
            <a:r>
              <a:rPr sz="1500" b="0">
                <a:solidFill>
                  <a:srgbClr val="F1F5F9"/>
                </a:solidFill>
                <a:latin typeface="Arial"/>
              </a:rPr>
              <a:t>No</a:t>
            </a:r>
          </a:p>
        </p:txBody>
      </p:sp>
      <p:sp>
        <p:nvSpPr>
          <p:cNvPr id="15" name="TextBox 14"/>
          <p:cNvSpPr txBox="1"/>
          <p:nvPr/>
        </p:nvSpPr>
        <p:spPr>
          <a:xfrm>
            <a:off x="5486400" y="3154679"/>
            <a:ext cx="5852160" cy="914400"/>
          </a:xfrm>
          <a:prstGeom prst="rect">
            <a:avLst/>
          </a:prstGeom>
          <a:noFill/>
        </p:spPr>
        <p:txBody>
          <a:bodyPr wrap="square" lIns="36576" rIns="36576" tIns="18288" bIns="18288" anchor="ctr">
            <a:spAutoFit/>
          </a:bodyPr>
          <a:lstStyle/>
          <a:p>
            <a:pPr algn="l"/>
            <a:r>
              <a:rPr sz="1300" b="0">
                <a:solidFill>
                  <a:srgbClr val="94A3B8"/>
                </a:solidFill>
                <a:latin typeface="Arial"/>
              </a:rPr>
              <a:t>SDK-enforced toolset: read, grep, glob, ls. No shell or edit tool exists.</a:t>
            </a:r>
          </a:p>
        </p:txBody>
      </p:sp>
      <p:sp>
        <p:nvSpPr>
          <p:cNvPr id="16" name="Rounded Rectangle 15"/>
          <p:cNvSpPr/>
          <p:nvPr/>
        </p:nvSpPr>
        <p:spPr>
          <a:xfrm>
            <a:off x="640080" y="4206240"/>
            <a:ext cx="10881360" cy="914400"/>
          </a:xfrm>
          <a:prstGeom prst="roundRect">
            <a:avLst>
              <a:gd name="adj" fmla="val 8000"/>
            </a:avLst>
          </a:prstGeom>
          <a:solidFill>
            <a:srgbClr val="141824"/>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8680" y="4206240"/>
            <a:ext cx="2011680" cy="914400"/>
          </a:xfrm>
          <a:prstGeom prst="rect">
            <a:avLst/>
          </a:prstGeom>
          <a:noFill/>
        </p:spPr>
        <p:txBody>
          <a:bodyPr wrap="square" lIns="36576" rIns="36576" tIns="18288" bIns="18288" anchor="ctr">
            <a:spAutoFit/>
          </a:bodyPr>
          <a:lstStyle/>
          <a:p>
            <a:pPr algn="l"/>
            <a:r>
              <a:rPr sz="1800" b="1">
                <a:solidFill>
                  <a:srgbClr val="34D399"/>
                </a:solidFill>
                <a:latin typeface="Arial"/>
              </a:rPr>
              <a:t>Fix Bugs</a:t>
            </a:r>
          </a:p>
        </p:txBody>
      </p:sp>
      <p:sp>
        <p:nvSpPr>
          <p:cNvPr id="18" name="TextBox 17"/>
          <p:cNvSpPr txBox="1"/>
          <p:nvPr/>
        </p:nvSpPr>
        <p:spPr>
          <a:xfrm>
            <a:off x="2926080" y="4206240"/>
            <a:ext cx="2377440" cy="914400"/>
          </a:xfrm>
          <a:prstGeom prst="rect">
            <a:avLst/>
          </a:prstGeom>
          <a:noFill/>
        </p:spPr>
        <p:txBody>
          <a:bodyPr wrap="square" lIns="36576" rIns="36576" tIns="18288" bIns="18288" anchor="ctr">
            <a:spAutoFit/>
          </a:bodyPr>
          <a:lstStyle/>
          <a:p>
            <a:pPr algn="l"/>
            <a:r>
              <a:rPr sz="1500" b="0">
                <a:solidFill>
                  <a:srgbClr val="F1F5F9"/>
                </a:solidFill>
                <a:latin typeface="Arial"/>
              </a:rPr>
              <a:t>Branch only</a:t>
            </a:r>
          </a:p>
        </p:txBody>
      </p:sp>
      <p:sp>
        <p:nvSpPr>
          <p:cNvPr id="19" name="TextBox 18"/>
          <p:cNvSpPr txBox="1"/>
          <p:nvPr/>
        </p:nvSpPr>
        <p:spPr>
          <a:xfrm>
            <a:off x="5486400" y="4206240"/>
            <a:ext cx="5852160" cy="914400"/>
          </a:xfrm>
          <a:prstGeom prst="rect">
            <a:avLst/>
          </a:prstGeom>
          <a:noFill/>
        </p:spPr>
        <p:txBody>
          <a:bodyPr wrap="square" lIns="36576" rIns="36576" tIns="18288" bIns="18288" anchor="ctr">
            <a:spAutoFit/>
          </a:bodyPr>
          <a:lstStyle/>
          <a:p>
            <a:pPr algn="l"/>
            <a:r>
              <a:rPr sz="1300" b="0">
                <a:solidFill>
                  <a:srgbClr val="94A3B8"/>
                </a:solidFill>
                <a:latin typeface="Arial"/>
              </a:rPr>
              <a:t>4 gates, no edits before Gate 3, scope fence, minimal change, no merge.</a:t>
            </a:r>
          </a:p>
        </p:txBody>
      </p:sp>
      <p:sp>
        <p:nvSpPr>
          <p:cNvPr id="20" name="TextBox 19"/>
          <p:cNvSpPr txBox="1"/>
          <p:nvPr/>
        </p:nvSpPr>
        <p:spPr>
          <a:xfrm>
            <a:off x="640080" y="5394960"/>
            <a:ext cx="10881360" cy="274320"/>
          </a:xfrm>
          <a:prstGeom prst="rect">
            <a:avLst/>
          </a:prstGeom>
          <a:noFill/>
        </p:spPr>
        <p:txBody>
          <a:bodyPr wrap="square" lIns="36576" rIns="36576" tIns="18288" bIns="18288" anchor="t">
            <a:spAutoFit/>
          </a:bodyPr>
          <a:lstStyle/>
          <a:p>
            <a:pPr algn="l"/>
            <a:r>
              <a:rPr sz="1100" b="1">
                <a:solidFill>
                  <a:srgbClr val="94A3B8"/>
                </a:solidFill>
                <a:latin typeface="Arial"/>
              </a:rPr>
              <a:t>OTHER CONTROLS</a:t>
            </a:r>
          </a:p>
        </p:txBody>
      </p:sp>
      <p:sp>
        <p:nvSpPr>
          <p:cNvPr id="21" name="Rounded Rectangle 20"/>
          <p:cNvSpPr/>
          <p:nvPr/>
        </p:nvSpPr>
        <p:spPr>
          <a:xfrm>
            <a:off x="640080" y="5715000"/>
            <a:ext cx="5349240" cy="310896"/>
          </a:xfrm>
          <a:prstGeom prst="roundRect">
            <a:avLst>
              <a:gd name="adj" fmla="val 50000"/>
            </a:avLst>
          </a:prstGeom>
          <a:noFill/>
          <a:ln w="1587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0080" y="5715000"/>
            <a:ext cx="5349240" cy="310896"/>
          </a:xfrm>
          <a:prstGeom prst="rect">
            <a:avLst/>
          </a:prstGeom>
          <a:noFill/>
        </p:spPr>
        <p:txBody>
          <a:bodyPr wrap="square" lIns="36576" rIns="36576" tIns="18288" bIns="18288" anchor="ctr">
            <a:spAutoFit/>
          </a:bodyPr>
          <a:lstStyle/>
          <a:p>
            <a:pPr algn="ctr"/>
            <a:r>
              <a:rPr sz="1100" b="1">
                <a:solidFill>
                  <a:srgbClr val="94A3B8"/>
                </a:solidFill>
                <a:latin typeface="Arial"/>
              </a:rPr>
              <a:t>Optional bearer token on every route except /health</a:t>
            </a:r>
          </a:p>
        </p:txBody>
      </p:sp>
      <p:sp>
        <p:nvSpPr>
          <p:cNvPr id="23" name="Rounded Rectangle 22"/>
          <p:cNvSpPr/>
          <p:nvPr/>
        </p:nvSpPr>
        <p:spPr>
          <a:xfrm>
            <a:off x="6172200" y="5715000"/>
            <a:ext cx="5349240" cy="310896"/>
          </a:xfrm>
          <a:prstGeom prst="roundRect">
            <a:avLst>
              <a:gd name="adj" fmla="val 50000"/>
            </a:avLst>
          </a:prstGeom>
          <a:noFill/>
          <a:ln w="1587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172200" y="5715000"/>
            <a:ext cx="5349240" cy="310896"/>
          </a:xfrm>
          <a:prstGeom prst="rect">
            <a:avLst/>
          </a:prstGeom>
          <a:noFill/>
        </p:spPr>
        <p:txBody>
          <a:bodyPr wrap="square" lIns="36576" rIns="36576" tIns="18288" bIns="18288" anchor="ctr">
            <a:spAutoFit/>
          </a:bodyPr>
          <a:lstStyle/>
          <a:p>
            <a:pPr algn="ctr"/>
            <a:r>
              <a:rPr sz="1100" b="1">
                <a:solidFill>
                  <a:srgbClr val="94A3B8"/>
                </a:solidFill>
                <a:latin typeface="Arial"/>
              </a:rPr>
              <a:t>CORS origin allowlist</a:t>
            </a:r>
          </a:p>
        </p:txBody>
      </p:sp>
      <p:sp>
        <p:nvSpPr>
          <p:cNvPr id="25" name="Rounded Rectangle 24"/>
          <p:cNvSpPr/>
          <p:nvPr/>
        </p:nvSpPr>
        <p:spPr>
          <a:xfrm>
            <a:off x="640080" y="6099048"/>
            <a:ext cx="5349240" cy="310896"/>
          </a:xfrm>
          <a:prstGeom prst="roundRect">
            <a:avLst>
              <a:gd name="adj" fmla="val 50000"/>
            </a:avLst>
          </a:prstGeom>
          <a:noFill/>
          <a:ln w="1587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40080" y="6099048"/>
            <a:ext cx="5349240" cy="310896"/>
          </a:xfrm>
          <a:prstGeom prst="rect">
            <a:avLst/>
          </a:prstGeom>
          <a:noFill/>
        </p:spPr>
        <p:txBody>
          <a:bodyPr wrap="square" lIns="36576" rIns="36576" tIns="18288" bIns="18288" anchor="ctr">
            <a:spAutoFit/>
          </a:bodyPr>
          <a:lstStyle/>
          <a:p>
            <a:pPr algn="ctr"/>
            <a:r>
              <a:rPr sz="1100" b="1">
                <a:solidFill>
                  <a:srgbClr val="94A3B8"/>
                </a:solidFill>
                <a:latin typeface="Arial"/>
              </a:rPr>
              <a:t>Secrets only in .env files</a:t>
            </a:r>
          </a:p>
        </p:txBody>
      </p:sp>
      <p:sp>
        <p:nvSpPr>
          <p:cNvPr id="27" name="Rounded Rectangle 26"/>
          <p:cNvSpPr/>
          <p:nvPr/>
        </p:nvSpPr>
        <p:spPr>
          <a:xfrm>
            <a:off x="6172200" y="6099048"/>
            <a:ext cx="5349240" cy="310896"/>
          </a:xfrm>
          <a:prstGeom prst="roundRect">
            <a:avLst>
              <a:gd name="adj" fmla="val 50000"/>
            </a:avLst>
          </a:prstGeom>
          <a:noFill/>
          <a:ln w="1587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172200" y="6099048"/>
            <a:ext cx="5349240" cy="310896"/>
          </a:xfrm>
          <a:prstGeom prst="rect">
            <a:avLst/>
          </a:prstGeom>
          <a:noFill/>
        </p:spPr>
        <p:txBody>
          <a:bodyPr wrap="square" lIns="36576" rIns="36576" tIns="18288" bIns="18288" anchor="ctr">
            <a:spAutoFit/>
          </a:bodyPr>
          <a:lstStyle/>
          <a:p>
            <a:pPr algn="ctr"/>
            <a:r>
              <a:rPr sz="1100" b="1">
                <a:solidFill>
                  <a:srgbClr val="94A3B8"/>
                </a:solidFill>
                <a:latin typeface="Arial"/>
              </a:rPr>
              <a:t>LLMs never create graph nodes or edges</a:t>
            </a:r>
          </a:p>
        </p:txBody>
      </p:sp>
      <p:sp>
        <p:nvSpPr>
          <p:cNvPr id="29" name="TextBox 28"/>
          <p:cNvSpPr txBox="1"/>
          <p:nvPr/>
        </p:nvSpPr>
        <p:spPr>
          <a:xfrm>
            <a:off x="640080" y="6446520"/>
            <a:ext cx="5486400" cy="274320"/>
          </a:xfrm>
          <a:prstGeom prst="rect">
            <a:avLst/>
          </a:prstGeom>
          <a:noFill/>
        </p:spPr>
        <p:txBody>
          <a:bodyPr wrap="square" lIns="36576" rIns="36576" tIns="18288" bIns="18288" anchor="t">
            <a:spAutoFit/>
          </a:bodyPr>
          <a:lstStyle/>
          <a:p>
            <a:pPr algn="l"/>
            <a:r>
              <a:rPr sz="1000" b="0">
                <a:solidFill>
                  <a:srgbClr val="94A3B8"/>
                </a:solidFill>
                <a:latin typeface="Arial"/>
              </a:rPr>
              <a:t>CodeGraph  |  Hackathon</a:t>
            </a:r>
          </a:p>
        </p:txBody>
      </p:sp>
      <p:sp>
        <p:nvSpPr>
          <p:cNvPr id="30" name="TextBox 29"/>
          <p:cNvSpPr txBox="1"/>
          <p:nvPr/>
        </p:nvSpPr>
        <p:spPr>
          <a:xfrm>
            <a:off x="10820095" y="6446520"/>
            <a:ext cx="731520" cy="274320"/>
          </a:xfrm>
          <a:prstGeom prst="rect">
            <a:avLst/>
          </a:prstGeom>
          <a:noFill/>
        </p:spPr>
        <p:txBody>
          <a:bodyPr wrap="square" lIns="36576" rIns="36576" tIns="18288" bIns="18288" anchor="t">
            <a:spAutoFit/>
          </a:bodyPr>
          <a:lstStyle/>
          <a:p>
            <a:pPr algn="r"/>
            <a:r>
              <a:rPr sz="1000" b="0">
                <a:solidFill>
                  <a:srgbClr val="94A3B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lIns="36576" rIns="36576" tIns="18288" bIns="18288" anchor="t">
            <a:spAutoFit/>
          </a:bodyPr>
          <a:lstStyle/>
          <a:p>
            <a:pPr algn="l"/>
            <a:r>
              <a:rPr sz="1200" b="1">
                <a:solidFill>
                  <a:srgbClr val="8B5CF6"/>
                </a:solidFill>
                <a:latin typeface="Arial"/>
              </a:rPr>
              <a:t>WHAT'S NEXT</a:t>
            </a:r>
          </a:p>
        </p:txBody>
      </p:sp>
      <p:sp>
        <p:nvSpPr>
          <p:cNvPr id="3" name="TextBox 2"/>
          <p:cNvSpPr txBox="1"/>
          <p:nvPr/>
        </p:nvSpPr>
        <p:spPr>
          <a:xfrm>
            <a:off x="640080" y="731520"/>
            <a:ext cx="10881360" cy="822960"/>
          </a:xfrm>
          <a:prstGeom prst="rect">
            <a:avLst/>
          </a:prstGeom>
          <a:noFill/>
        </p:spPr>
        <p:txBody>
          <a:bodyPr wrap="square" lIns="36576" rIns="36576" tIns="18288" bIns="18288" anchor="t">
            <a:spAutoFit/>
          </a:bodyPr>
          <a:lstStyle/>
          <a:p>
            <a:pPr algn="l"/>
            <a:r>
              <a:rPr sz="3200" b="1">
                <a:solidFill>
                  <a:srgbClr val="F1F5F9"/>
                </a:solidFill>
                <a:latin typeface="Arial"/>
              </a:rPr>
              <a:t>Future work</a:t>
            </a:r>
          </a:p>
        </p:txBody>
      </p:sp>
      <p:sp>
        <p:nvSpPr>
          <p:cNvPr id="4" name="Rectangle 3"/>
          <p:cNvSpPr/>
          <p:nvPr/>
        </p:nvSpPr>
        <p:spPr>
          <a:xfrm>
            <a:off x="676656" y="1481328"/>
            <a:ext cx="822960" cy="457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640080" y="1828800"/>
            <a:ext cx="3474720" cy="1188720"/>
          </a:xfrm>
          <a:prstGeom prst="roundRect">
            <a:avLst>
              <a:gd name="adj" fmla="val 8000"/>
            </a:avLst>
          </a:prstGeom>
          <a:solidFill>
            <a:srgbClr val="141824"/>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938528"/>
            <a:ext cx="3017520" cy="365760"/>
          </a:xfrm>
          <a:prstGeom prst="rect">
            <a:avLst/>
          </a:prstGeom>
          <a:noFill/>
        </p:spPr>
        <p:txBody>
          <a:bodyPr wrap="square" lIns="36576" rIns="36576" tIns="18288" bIns="18288" anchor="t">
            <a:spAutoFit/>
          </a:bodyPr>
          <a:lstStyle/>
          <a:p>
            <a:pPr algn="l"/>
            <a:r>
              <a:rPr sz="1600" b="1">
                <a:solidFill>
                  <a:srgbClr val="22D3EE"/>
                </a:solidFill>
                <a:latin typeface="Arial"/>
              </a:rPr>
              <a:t>Incremental rebuilds</a:t>
            </a:r>
          </a:p>
        </p:txBody>
      </p:sp>
      <p:sp>
        <p:nvSpPr>
          <p:cNvPr id="7" name="TextBox 6"/>
          <p:cNvSpPr txBox="1"/>
          <p:nvPr/>
        </p:nvSpPr>
        <p:spPr>
          <a:xfrm>
            <a:off x="868680" y="2331720"/>
            <a:ext cx="3017520" cy="640080"/>
          </a:xfrm>
          <a:prstGeom prst="rect">
            <a:avLst/>
          </a:prstGeom>
          <a:noFill/>
        </p:spPr>
        <p:txBody>
          <a:bodyPr wrap="square" lIns="36576" rIns="36576" tIns="18288" bIns="18288" anchor="t">
            <a:spAutoFit/>
          </a:bodyPr>
          <a:lstStyle/>
          <a:p>
            <a:pPr algn="l"/>
            <a:r>
              <a:rPr sz="1200" b="0">
                <a:solidFill>
                  <a:srgbClr val="94A3B8"/>
                </a:solidFill>
                <a:latin typeface="Arial"/>
              </a:rPr>
              <a:t>Instead of full rebuilds, plus repo-relative paths</a:t>
            </a:r>
          </a:p>
        </p:txBody>
      </p:sp>
      <p:sp>
        <p:nvSpPr>
          <p:cNvPr id="8" name="Rounded Rectangle 7"/>
          <p:cNvSpPr/>
          <p:nvPr/>
        </p:nvSpPr>
        <p:spPr>
          <a:xfrm>
            <a:off x="4389120" y="1828800"/>
            <a:ext cx="3474720" cy="1188720"/>
          </a:xfrm>
          <a:prstGeom prst="roundRect">
            <a:avLst>
              <a:gd name="adj" fmla="val 8000"/>
            </a:avLst>
          </a:prstGeom>
          <a:solidFill>
            <a:srgbClr val="141824"/>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617720" y="1938528"/>
            <a:ext cx="3017520" cy="365760"/>
          </a:xfrm>
          <a:prstGeom prst="rect">
            <a:avLst/>
          </a:prstGeom>
          <a:noFill/>
        </p:spPr>
        <p:txBody>
          <a:bodyPr wrap="square" lIns="36576" rIns="36576" tIns="18288" bIns="18288" anchor="t">
            <a:spAutoFit/>
          </a:bodyPr>
          <a:lstStyle/>
          <a:p>
            <a:pPr algn="l"/>
            <a:r>
              <a:rPr sz="1600" b="1">
                <a:solidFill>
                  <a:srgbClr val="3B82F6"/>
                </a:solidFill>
                <a:latin typeface="Arial"/>
              </a:rPr>
              <a:t>More extractors</a:t>
            </a:r>
          </a:p>
        </p:txBody>
      </p:sp>
      <p:sp>
        <p:nvSpPr>
          <p:cNvPr id="10" name="TextBox 9"/>
          <p:cNvSpPr txBox="1"/>
          <p:nvPr/>
        </p:nvSpPr>
        <p:spPr>
          <a:xfrm>
            <a:off x="4617720" y="2331720"/>
            <a:ext cx="3017520" cy="640080"/>
          </a:xfrm>
          <a:prstGeom prst="rect">
            <a:avLst/>
          </a:prstGeom>
          <a:noFill/>
        </p:spPr>
        <p:txBody>
          <a:bodyPr wrap="square" lIns="36576" rIns="36576" tIns="18288" bIns="18288" anchor="t">
            <a:spAutoFit/>
          </a:bodyPr>
          <a:lstStyle/>
          <a:p>
            <a:pPr algn="l"/>
            <a:r>
              <a:rPr sz="1200" b="0">
                <a:solidFill>
                  <a:srgbClr val="94A3B8"/>
                </a:solidFill>
                <a:latin typeface="Arial"/>
              </a:rPr>
              <a:t>Other frameworks and message queues, plus unresolved-fetch checks</a:t>
            </a:r>
          </a:p>
        </p:txBody>
      </p:sp>
      <p:sp>
        <p:nvSpPr>
          <p:cNvPr id="11" name="Rounded Rectangle 10"/>
          <p:cNvSpPr/>
          <p:nvPr/>
        </p:nvSpPr>
        <p:spPr>
          <a:xfrm>
            <a:off x="8138159" y="1828800"/>
            <a:ext cx="3474720" cy="1188720"/>
          </a:xfrm>
          <a:prstGeom prst="roundRect">
            <a:avLst>
              <a:gd name="adj" fmla="val 8000"/>
            </a:avLst>
          </a:prstGeom>
          <a:solidFill>
            <a:srgbClr val="141824"/>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66759" y="1938528"/>
            <a:ext cx="3017520" cy="365760"/>
          </a:xfrm>
          <a:prstGeom prst="rect">
            <a:avLst/>
          </a:prstGeom>
          <a:noFill/>
        </p:spPr>
        <p:txBody>
          <a:bodyPr wrap="square" lIns="36576" rIns="36576" tIns="18288" bIns="18288" anchor="t">
            <a:spAutoFit/>
          </a:bodyPr>
          <a:lstStyle/>
          <a:p>
            <a:pPr algn="l"/>
            <a:r>
              <a:rPr sz="1600" b="1">
                <a:solidFill>
                  <a:srgbClr val="8B5CF6"/>
                </a:solidFill>
                <a:latin typeface="Arial"/>
              </a:rPr>
              <a:t>Graph diffs and trails</a:t>
            </a:r>
          </a:p>
        </p:txBody>
      </p:sp>
      <p:sp>
        <p:nvSpPr>
          <p:cNvPr id="13" name="TextBox 12"/>
          <p:cNvSpPr txBox="1"/>
          <p:nvPr/>
        </p:nvSpPr>
        <p:spPr>
          <a:xfrm>
            <a:off x="8366759" y="2331720"/>
            <a:ext cx="3017520" cy="640080"/>
          </a:xfrm>
          <a:prstGeom prst="rect">
            <a:avLst/>
          </a:prstGeom>
          <a:noFill/>
        </p:spPr>
        <p:txBody>
          <a:bodyPr wrap="square" lIns="36576" rIns="36576" tIns="18288" bIns="18288" anchor="t">
            <a:spAutoFit/>
          </a:bodyPr>
          <a:lstStyle/>
          <a:p>
            <a:pPr algn="l"/>
            <a:r>
              <a:rPr sz="1200" b="0">
                <a:solidFill>
                  <a:srgbClr val="94A3B8"/>
                </a:solidFill>
                <a:latin typeface="Arial"/>
              </a:rPr>
              <a:t>Saved trails, shareable node links, diff between rebuilds</a:t>
            </a:r>
          </a:p>
        </p:txBody>
      </p:sp>
      <p:sp>
        <p:nvSpPr>
          <p:cNvPr id="14" name="Rounded Rectangle 13"/>
          <p:cNvSpPr/>
          <p:nvPr/>
        </p:nvSpPr>
        <p:spPr>
          <a:xfrm>
            <a:off x="640080" y="3200400"/>
            <a:ext cx="3474720" cy="1188720"/>
          </a:xfrm>
          <a:prstGeom prst="roundRect">
            <a:avLst>
              <a:gd name="adj" fmla="val 8000"/>
            </a:avLst>
          </a:prstGeom>
          <a:solidFill>
            <a:srgbClr val="141824"/>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3310128"/>
            <a:ext cx="3017520" cy="365760"/>
          </a:xfrm>
          <a:prstGeom prst="rect">
            <a:avLst/>
          </a:prstGeom>
          <a:noFill/>
        </p:spPr>
        <p:txBody>
          <a:bodyPr wrap="square" lIns="36576" rIns="36576" tIns="18288" bIns="18288" anchor="t">
            <a:spAutoFit/>
          </a:bodyPr>
          <a:lstStyle/>
          <a:p>
            <a:pPr algn="l"/>
            <a:r>
              <a:rPr sz="1600" b="1">
                <a:solidFill>
                  <a:srgbClr val="F472B6"/>
                </a:solidFill>
                <a:latin typeface="Arial"/>
              </a:rPr>
              <a:t>Semantic search</a:t>
            </a:r>
          </a:p>
        </p:txBody>
      </p:sp>
      <p:sp>
        <p:nvSpPr>
          <p:cNvPr id="16" name="TextBox 15"/>
          <p:cNvSpPr txBox="1"/>
          <p:nvPr/>
        </p:nvSpPr>
        <p:spPr>
          <a:xfrm>
            <a:off x="868680" y="3703320"/>
            <a:ext cx="3017520" cy="640080"/>
          </a:xfrm>
          <a:prstGeom prst="rect">
            <a:avLst/>
          </a:prstGeom>
          <a:noFill/>
        </p:spPr>
        <p:txBody>
          <a:bodyPr wrap="square" lIns="36576" rIns="36576" tIns="18288" bIns="18288" anchor="t">
            <a:spAutoFit/>
          </a:bodyPr>
          <a:lstStyle/>
          <a:p>
            <a:pPr algn="l"/>
            <a:r>
              <a:rPr sz="1200" b="0">
                <a:solidFill>
                  <a:srgbClr val="94A3B8"/>
                </a:solidFill>
                <a:latin typeface="Arial"/>
              </a:rPr>
              <a:t>Better graph context for Ask AI</a:t>
            </a:r>
          </a:p>
        </p:txBody>
      </p:sp>
      <p:sp>
        <p:nvSpPr>
          <p:cNvPr id="17" name="Rounded Rectangle 16"/>
          <p:cNvSpPr/>
          <p:nvPr/>
        </p:nvSpPr>
        <p:spPr>
          <a:xfrm>
            <a:off x="4389120" y="3200400"/>
            <a:ext cx="3474720" cy="1188720"/>
          </a:xfrm>
          <a:prstGeom prst="roundRect">
            <a:avLst>
              <a:gd name="adj" fmla="val 8000"/>
            </a:avLst>
          </a:prstGeom>
          <a:solidFill>
            <a:srgbClr val="141824"/>
          </a:solidFill>
          <a:ln w="1270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617720" y="3310128"/>
            <a:ext cx="3017520" cy="365760"/>
          </a:xfrm>
          <a:prstGeom prst="rect">
            <a:avLst/>
          </a:prstGeom>
          <a:noFill/>
        </p:spPr>
        <p:txBody>
          <a:bodyPr wrap="square" lIns="36576" rIns="36576" tIns="18288" bIns="18288" anchor="t">
            <a:spAutoFit/>
          </a:bodyPr>
          <a:lstStyle/>
          <a:p>
            <a:pPr algn="l"/>
            <a:r>
              <a:rPr sz="1600" b="1">
                <a:solidFill>
                  <a:srgbClr val="FBBF24"/>
                </a:solidFill>
                <a:latin typeface="Arial"/>
              </a:rPr>
              <a:t>Multi-user approvals</a:t>
            </a:r>
          </a:p>
        </p:txBody>
      </p:sp>
      <p:sp>
        <p:nvSpPr>
          <p:cNvPr id="19" name="TextBox 18"/>
          <p:cNvSpPr txBox="1"/>
          <p:nvPr/>
        </p:nvSpPr>
        <p:spPr>
          <a:xfrm>
            <a:off x="4617720" y="3703320"/>
            <a:ext cx="3017520" cy="640080"/>
          </a:xfrm>
          <a:prstGeom prst="rect">
            <a:avLst/>
          </a:prstGeom>
          <a:noFill/>
        </p:spPr>
        <p:txBody>
          <a:bodyPr wrap="square" lIns="36576" rIns="36576" tIns="18288" bIns="18288" anchor="t">
            <a:spAutoFit/>
          </a:bodyPr>
          <a:lstStyle/>
          <a:p>
            <a:pPr algn="l"/>
            <a:r>
              <a:rPr sz="1200" b="0">
                <a:solidFill>
                  <a:srgbClr val="94A3B8"/>
                </a:solidFill>
                <a:latin typeface="Arial"/>
              </a:rPr>
              <a:t>Identity and per-repo owners</a:t>
            </a:r>
          </a:p>
        </p:txBody>
      </p:sp>
      <p:sp>
        <p:nvSpPr>
          <p:cNvPr id="20" name="Rounded Rectangle 19"/>
          <p:cNvSpPr/>
          <p:nvPr/>
        </p:nvSpPr>
        <p:spPr>
          <a:xfrm>
            <a:off x="8138159" y="3200400"/>
            <a:ext cx="3474720" cy="1188720"/>
          </a:xfrm>
          <a:prstGeom prst="roundRect">
            <a:avLst>
              <a:gd name="adj" fmla="val 8000"/>
            </a:avLst>
          </a:prstGeom>
          <a:solidFill>
            <a:srgbClr val="141824"/>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66759" y="3310128"/>
            <a:ext cx="3017520" cy="365760"/>
          </a:xfrm>
          <a:prstGeom prst="rect">
            <a:avLst/>
          </a:prstGeom>
          <a:noFill/>
        </p:spPr>
        <p:txBody>
          <a:bodyPr wrap="square" lIns="36576" rIns="36576" tIns="18288" bIns="18288" anchor="t">
            <a:spAutoFit/>
          </a:bodyPr>
          <a:lstStyle/>
          <a:p>
            <a:pPr algn="l"/>
            <a:r>
              <a:rPr sz="1600" b="1">
                <a:solidFill>
                  <a:srgbClr val="34D399"/>
                </a:solidFill>
                <a:latin typeface="Arial"/>
              </a:rPr>
              <a:t>Isolated worktrees + metrics</a:t>
            </a:r>
          </a:p>
        </p:txBody>
      </p:sp>
      <p:sp>
        <p:nvSpPr>
          <p:cNvPr id="22" name="TextBox 21"/>
          <p:cNvSpPr txBox="1"/>
          <p:nvPr/>
        </p:nvSpPr>
        <p:spPr>
          <a:xfrm>
            <a:off x="8366759" y="3703320"/>
            <a:ext cx="3017520" cy="640080"/>
          </a:xfrm>
          <a:prstGeom prst="rect">
            <a:avLst/>
          </a:prstGeom>
          <a:noFill/>
        </p:spPr>
        <p:txBody>
          <a:bodyPr wrap="square" lIns="36576" rIns="36576" tIns="18288" bIns="18288" anchor="t">
            <a:spAutoFit/>
          </a:bodyPr>
          <a:lstStyle/>
          <a:p>
            <a:pPr algn="l"/>
            <a:r>
              <a:rPr sz="1200" b="0">
                <a:solidFill>
                  <a:srgbClr val="94A3B8"/>
                </a:solidFill>
                <a:latin typeface="Arial"/>
              </a:rPr>
              <a:t>Safer runs, and time per gate, revise rate, falsified hypotheses</a:t>
            </a:r>
          </a:p>
        </p:txBody>
      </p:sp>
      <p:sp>
        <p:nvSpPr>
          <p:cNvPr id="23" name="Rounded Rectangle 22"/>
          <p:cNvSpPr/>
          <p:nvPr/>
        </p:nvSpPr>
        <p:spPr>
          <a:xfrm>
            <a:off x="640080" y="4709160"/>
            <a:ext cx="10881360" cy="1463040"/>
          </a:xfrm>
          <a:prstGeom prst="roundRect">
            <a:avLst>
              <a:gd name="adj" fmla="val 8000"/>
            </a:avLst>
          </a:prstGeom>
          <a:solidFill>
            <a:srgbClr val="141824"/>
          </a:solidFill>
          <a:ln w="12700">
            <a:solidFill>
              <a:srgbClr val="2A314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codegraph-logo-transparent.png"/>
          <p:cNvPicPr>
            <a:picLocks noChangeAspect="1"/>
          </p:cNvPicPr>
          <p:nvPr/>
        </p:nvPicPr>
        <p:blipFill>
          <a:blip r:embed="rId3"/>
          <a:stretch>
            <a:fillRect/>
          </a:stretch>
        </p:blipFill>
        <p:spPr>
          <a:xfrm>
            <a:off x="868680" y="4846320"/>
            <a:ext cx="1188720" cy="1188720"/>
          </a:xfrm>
          <a:prstGeom prst="rect">
            <a:avLst/>
          </a:prstGeom>
        </p:spPr>
      </p:pic>
      <p:sp>
        <p:nvSpPr>
          <p:cNvPr id="25" name="TextBox 24"/>
          <p:cNvSpPr txBox="1"/>
          <p:nvPr/>
        </p:nvSpPr>
        <p:spPr>
          <a:xfrm>
            <a:off x="2926080" y="4846320"/>
            <a:ext cx="8412480" cy="548640"/>
          </a:xfrm>
          <a:prstGeom prst="rect">
            <a:avLst/>
          </a:prstGeom>
          <a:noFill/>
        </p:spPr>
        <p:txBody>
          <a:bodyPr wrap="square" lIns="36576" rIns="36576" tIns="18288" bIns="18288" anchor="t">
            <a:spAutoFit/>
          </a:bodyPr>
          <a:lstStyle/>
          <a:p>
            <a:pPr algn="l"/>
            <a:r>
              <a:rPr sz="2800" b="1">
                <a:solidFill>
                  <a:srgbClr val="F1F5F9"/>
                </a:solidFill>
                <a:latin typeface="Arial"/>
              </a:rPr>
              <a:t>See it. Question it. Repair it.</a:t>
            </a:r>
          </a:p>
        </p:txBody>
      </p:sp>
      <p:sp>
        <p:nvSpPr>
          <p:cNvPr id="26" name="TextBox 25"/>
          <p:cNvSpPr txBox="1"/>
          <p:nvPr/>
        </p:nvSpPr>
        <p:spPr>
          <a:xfrm>
            <a:off x="2926080" y="5440680"/>
            <a:ext cx="8412480" cy="640080"/>
          </a:xfrm>
          <a:prstGeom prst="rect">
            <a:avLst/>
          </a:prstGeom>
          <a:noFill/>
        </p:spPr>
        <p:txBody>
          <a:bodyPr wrap="square" lIns="36576" rIns="36576" tIns="18288" bIns="18288" anchor="t">
            <a:spAutoFit/>
          </a:bodyPr>
          <a:lstStyle/>
          <a:p>
            <a:pPr algn="l"/>
            <a:r>
              <a:rPr sz="1500" b="0">
                <a:solidFill>
                  <a:srgbClr val="94A3B8"/>
                </a:solidFill>
                <a:latin typeface="Arial"/>
              </a:rPr>
              <a:t>A live graph of the system, answers with evidence, and fixes a human approves at every gate.</a:t>
            </a:r>
          </a:p>
        </p:txBody>
      </p:sp>
      <p:sp>
        <p:nvSpPr>
          <p:cNvPr id="27" name="TextBox 26"/>
          <p:cNvSpPr txBox="1"/>
          <p:nvPr/>
        </p:nvSpPr>
        <p:spPr>
          <a:xfrm>
            <a:off x="640080" y="6446520"/>
            <a:ext cx="5486400" cy="274320"/>
          </a:xfrm>
          <a:prstGeom prst="rect">
            <a:avLst/>
          </a:prstGeom>
          <a:noFill/>
        </p:spPr>
        <p:txBody>
          <a:bodyPr wrap="square" lIns="36576" rIns="36576" tIns="18288" bIns="18288" anchor="t">
            <a:spAutoFit/>
          </a:bodyPr>
          <a:lstStyle/>
          <a:p>
            <a:pPr algn="l"/>
            <a:r>
              <a:rPr sz="1000" b="0">
                <a:solidFill>
                  <a:srgbClr val="94A3B8"/>
                </a:solidFill>
                <a:latin typeface="Arial"/>
              </a:rPr>
              <a:t>CodeGraph  |  Hackathon</a:t>
            </a:r>
          </a:p>
        </p:txBody>
      </p:sp>
      <p:sp>
        <p:nvSpPr>
          <p:cNvPr id="28" name="TextBox 27"/>
          <p:cNvSpPr txBox="1"/>
          <p:nvPr/>
        </p:nvSpPr>
        <p:spPr>
          <a:xfrm>
            <a:off x="10820095" y="6446520"/>
            <a:ext cx="731520" cy="274320"/>
          </a:xfrm>
          <a:prstGeom prst="rect">
            <a:avLst/>
          </a:prstGeom>
          <a:noFill/>
        </p:spPr>
        <p:txBody>
          <a:bodyPr wrap="square" lIns="36576" rIns="36576" tIns="18288" bIns="18288" anchor="t">
            <a:spAutoFit/>
          </a:bodyPr>
          <a:lstStyle/>
          <a:p>
            <a:pPr algn="r"/>
            <a:r>
              <a:rPr sz="1000" b="0">
                <a:solidFill>
                  <a:srgbClr val="94A3B8"/>
                </a:solidFill>
                <a:latin typeface="Arial"/>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